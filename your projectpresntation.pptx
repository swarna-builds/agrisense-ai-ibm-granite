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85" r:id="rId5"/>
    <p:sldId id="278" r:id="rId6"/>
    <p:sldId id="281" r:id="rId7"/>
    <p:sldId id="279" r:id="rId8"/>
    <p:sldId id="262" r:id="rId9"/>
    <p:sldId id="264" r:id="rId10"/>
    <p:sldId id="277" r:id="rId11"/>
    <p:sldId id="286" r:id="rId12"/>
    <p:sldId id="287" r:id="rId13"/>
    <p:sldId id="280" r:id="rId14"/>
    <p:sldId id="288" r:id="rId15"/>
    <p:sldId id="289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37A25B-DA5D-A37C-3B36-7F0977405ABF}" v="154" dt="2026-06-19T05:59:42.731"/>
    <p1510:client id="{088AD18C-7811-B1E2-9ED5-57A1A5542DF6}" v="456" dt="2026-06-19T06:28:44.546"/>
    <p1510:client id="{A6B9108B-7598-1D50-C4AA-8A38026DAEEF}" v="18" dt="2026-06-19T06:56:18.840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eg"/><Relationship Id="rId3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IBM University Engagement Project Submission</a:t>
            </a:r>
            <a:endParaRPr lang="en-IN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685800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2600" b="1">
                <a:solidFill>
                  <a:srgbClr val="0F3B2E"/>
                </a:solidFill>
                <a:latin typeface="Arial"/>
              </a:defRPr>
            </a:pPr>
            <a:r>
              <a:t>AgriSense AI</a:t>
            </a:r>
          </a:p>
          <a:p>
            <a:pPr>
              <a:spcAft>
                <a:spcPts val="1400"/>
              </a:spcAft>
              <a:defRPr sz="1600" b="1">
                <a:solidFill>
                  <a:srgbClr val="0F3B2E"/>
                </a:solidFill>
                <a:latin typeface="Arial"/>
              </a:defRPr>
            </a:pPr>
            <a:r>
              <a:t>Autonomous Agronomic Decision &amp; Regional Agromet Advisory Platform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Domain of Project: Agriculture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Student Name: M SWARNA LAKSHMI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Email ID: swarnalakshmim2006@gmail.com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Mobile Number: 6360306436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Institution: S J C Institute of Technology</a:t>
            </a:r>
          </a:p>
          <a:p>
            <a:pPr>
              <a:spcBef>
                <a:spcPts val="6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Technology Stack: IBM Granite (ibm/granite-4-h-small) | Langflow | watsonx.ai</a:t>
            </a:r>
          </a:p>
        </p:txBody>
      </p:sp>
      <p:pic>
        <p:nvPicPr>
          <p:cNvPr id="4" name="Picture 3" descr="passport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645920"/>
            <a:ext cx="3474720" cy="4592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2800" b="1">
                <a:solidFill>
                  <a:srgbClr val="0F3B2E"/>
                </a:solidFill>
                <a:latin typeface="Arial"/>
              </a:defRPr>
            </a:pPr>
            <a:r>
              <a:t>Problem Statement</a:t>
            </a: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Unpredictable Epiphytotics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Pathogens like Downy Mildew spread rapidly when humidity exceeds 78% RH.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Visual foliar symptoms appear days after active spore germination.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Smallholders lack real-time agromet early warning tools.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Agrochemical Misapplication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Lack of scientific guidance leads to heavy dealer-driven chemical overdosing.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Causes severe phytotoxicity and chemical-resistant pathogen strains.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Excessive toxic runoff contaminates soil and rural groundwater.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LLM Hallucination Hazards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Generic commercial AI tools invent arbitrary spray dosages.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Lack grounding in verified regional ICAR and KVK standard packages.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Vernacular barriers lock non-literate farmers out of critical advice.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Proposed Solution</a:t>
            </a:r>
          </a:p>
          <a:p>
            <a:pPr fontAlgn="base"/>
            <a:endParaRPr lang="en-US" b="1"/>
          </a:p>
          <a:p>
            <a:pPr fontAlgn="base"/>
            <a:r>
              <a:rPr lang="en-US" b="1"/>
              <a:t>The Challenge</a:t>
            </a:r>
            <a:r>
              <a:rPr lang="en-US"/>
              <a:t> </a:t>
            </a:r>
          </a:p>
          <a:p>
            <a:pPr fontAlgn="base"/>
            <a:r>
              <a:rPr lang="en-US"/>
              <a:t>Good nutrition is the foundation of health, but individuals often struggle with </a:t>
            </a:r>
            <a:r>
              <a:rPr lang="en-US" b="1"/>
              <a:t>diet planning, portion control, and tracking nutritional intake</a:t>
            </a:r>
            <a:r>
              <a:rPr lang="en-US"/>
              <a:t>. Information about healthy diets, disease-specific nutrition, and food composition is scattered across unreliable sources. Without </a:t>
            </a:r>
            <a:r>
              <a:rPr lang="en-US" b="1"/>
              <a:t>personalized, real-time guidance</a:t>
            </a:r>
            <a:r>
              <a:rPr lang="en-US"/>
              <a:t>, many fail to maintain balanced diets or make informed food choices. </a:t>
            </a:r>
          </a:p>
          <a:p>
            <a:pPr fontAlgn="base"/>
            <a:endParaRPr lang="en-US"/>
          </a:p>
          <a:p>
            <a:pPr fontAlgn="base"/>
            <a:r>
              <a:rPr lang="en-US" b="1"/>
              <a:t>The Objective</a:t>
            </a:r>
            <a:r>
              <a:rPr lang="en-US"/>
              <a:t> </a:t>
            </a:r>
          </a:p>
          <a:p>
            <a:pPr fontAlgn="base"/>
            <a:r>
              <a:rPr lang="en-US"/>
              <a:t>Build an </a:t>
            </a:r>
            <a:r>
              <a:rPr lang="en-US" b="1"/>
              <a:t>AI-powered Nutrition Agent</a:t>
            </a:r>
            <a:r>
              <a:rPr lang="en-US"/>
              <a:t> that delivers </a:t>
            </a:r>
            <a:r>
              <a:rPr lang="en-US" b="1"/>
              <a:t>personalized dietary insights and guidance</a:t>
            </a:r>
            <a:r>
              <a:rPr lang="en-US"/>
              <a:t> for individuals, families, and health professionals. The solution should: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Personalized Diet Plans</a:t>
            </a:r>
            <a:r>
              <a:rPr lang="en-US"/>
              <a:t> – Recommend meals based on age, health conditions, allergies, cultural preferences, and fitness goals.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Food Data RAG Retrieval</a:t>
            </a:r>
            <a:r>
              <a:rPr lang="en-US"/>
              <a:t> – Fetch and summarize nutritional values (calories, macros, vitamins) from reliable sources.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Diet Tracking &amp; Feedback</a:t>
            </a:r>
            <a:r>
              <a:rPr lang="en-US"/>
              <a:t> – Allow users to log meals via text, images, or voice, and provide instant nutritional analysis.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Preventive Health Focus</a:t>
            </a:r>
            <a:r>
              <a:rPr lang="en-US"/>
              <a:t> – Suggest diets for chronic disease management (e.g., diabetes-friendly or heart-healthy plans).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Multi-Agent System</a:t>
            </a:r>
            <a:r>
              <a:rPr lang="en-US"/>
              <a:t> –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Nutrition Knowledge Agent</a:t>
            </a:r>
            <a:r>
              <a:rPr lang="en-US"/>
              <a:t> (fetches nutritional data)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Diet Recommendation Agent</a:t>
            </a:r>
            <a:r>
              <a:rPr lang="en-US"/>
              <a:t> (personalized meal plans)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Health Advisory Agent</a:t>
            </a:r>
            <a:r>
              <a:rPr lang="en-US"/>
              <a:t> (preventive health suggestions)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Food Log &amp; Feedback Agent</a:t>
            </a:r>
            <a:r>
              <a:rPr lang="en-US"/>
              <a:t> (meal tracking + analysis)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/>
              <a:t>Visualization Dashboard</a:t>
            </a:r>
            <a:r>
              <a:rPr lang="en-US"/>
              <a:t> – Show daily/weekly nutrient intake, deficiencies, and progress toward health goals. </a:t>
            </a:r>
          </a:p>
          <a:p>
            <a:pPr fontAlgn="base"/>
            <a:endParaRPr lang="en-US"/>
          </a:p>
          <a:p>
            <a:endParaRPr lang="en-IN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Autonomous Agromet Sentinel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Continuous background polling of live weather telemetry.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Proactive red alert dispatch before active spore germination.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Eliminates reliance on manual user query initiation.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Langflow Agentic Orchestration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Modular visual workflow connecting sensory inputs to LLM agents.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Seamlessly integrates custom Python vision and weather tools.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Coordinates ChromaDB RAG retrieval with IBM Granite.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ICAR-Grounded Granite AI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Powered by IBM Granite (ibm/granite-4-h-small) on watsonx.ai.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Restricts treatments to verified ICAR/KVK active ingredients.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Vernacular audio advisory delivery in KA, TE, HI, and EN.</a:t>
            </a:r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Project Objectives</a:t>
            </a:r>
            <a:endParaRPr lang="en-US" b="1"/>
          </a:p>
          <a:p>
            <a:r>
              <a:rPr lang="en-US" b="1"/>
              <a:t>Proposed Solution: AI-Powered Nutrition Agent</a:t>
            </a:r>
          </a:p>
          <a:p>
            <a:r>
              <a:rPr lang="en-US"/>
              <a:t>The proposed solution is a </a:t>
            </a:r>
            <a:r>
              <a:rPr lang="en-US" b="1"/>
              <a:t>multi-agent AI-powered Nutrition Agent</a:t>
            </a:r>
            <a:r>
              <a:rPr lang="en-US"/>
              <a:t> built using </a:t>
            </a:r>
            <a:r>
              <a:rPr lang="en-US" b="1" err="1"/>
              <a:t>LangFlow</a:t>
            </a:r>
            <a:r>
              <a:rPr lang="en-US" b="1"/>
              <a:t>, IBM watsonx.ai, and Granite Models</a:t>
            </a:r>
            <a:r>
              <a:rPr lang="en-US"/>
              <a:t> to provide personalized, real-time dietary guidance. The system addresses challenges in diet planning, nutrition tracking, and preventive healthcare through an intelligent, modular architecture.</a:t>
            </a:r>
          </a:p>
          <a:p>
            <a:r>
              <a:rPr lang="en-US"/>
              <a:t>At its core, the solution uses a </a:t>
            </a:r>
            <a:r>
              <a:rPr lang="en-US" b="1"/>
              <a:t>Retrieval-Augmented Generation (RAG)</a:t>
            </a:r>
            <a:r>
              <a:rPr lang="en-US"/>
              <a:t> pipeline to fetch accurate nutritional data from trusted sources such as USDA and WHO datasets. This data is embedded and stored in a vector database, enabling the system to retrieve and summarize food nutrition details (calories, macros, vitamins) using Granite models.</a:t>
            </a:r>
          </a:p>
          <a:p>
            <a:r>
              <a:rPr lang="en-US"/>
              <a:t>The system consists of four key agents:</a:t>
            </a:r>
          </a:p>
          <a:p>
            <a:r>
              <a:rPr lang="en-US" b="1"/>
              <a:t>Nutrition Knowledge Agent</a:t>
            </a:r>
            <a:r>
              <a:rPr lang="en-US"/>
              <a:t> retrieves and summarizes nutritional information using RAG. </a:t>
            </a:r>
          </a:p>
          <a:p>
            <a:r>
              <a:rPr lang="en-US" b="1"/>
              <a:t>Diet Recommendation Agent</a:t>
            </a:r>
            <a:r>
              <a:rPr lang="en-US"/>
              <a:t> generates personalized meal plans based on user inputs such as age, health conditions, dietary preferences, and fitness goals. </a:t>
            </a:r>
          </a:p>
          <a:p>
            <a:r>
              <a:rPr lang="en-US" b="1"/>
              <a:t>Health Advisory Agent</a:t>
            </a:r>
            <a:r>
              <a:rPr lang="en-US"/>
              <a:t> provides preventive health suggestions, including disease-specific diets (e.g., diabetes-friendly or heart-healthy plans). </a:t>
            </a:r>
          </a:p>
          <a:p>
            <a:r>
              <a:rPr lang="en-US" b="1"/>
              <a:t>Food Log &amp; Feedback Agent</a:t>
            </a:r>
            <a:r>
              <a:rPr lang="en-US"/>
              <a:t> allows users to log meals via text, voice, or images and delivers instant nutritional analysis with actionable feedback. </a:t>
            </a:r>
          </a:p>
          <a:p>
            <a:r>
              <a:rPr lang="en-US"/>
              <a:t>The solution includes a </a:t>
            </a:r>
            <a:r>
              <a:rPr lang="en-US" b="1"/>
              <a:t>user-friendly dashboard</a:t>
            </a:r>
            <a:r>
              <a:rPr lang="en-US"/>
              <a:t> (built with </a:t>
            </a:r>
            <a:r>
              <a:rPr lang="en-US" err="1"/>
              <a:t>Streamlit</a:t>
            </a:r>
            <a:r>
              <a:rPr lang="en-US"/>
              <a:t> or React) that visualizes daily and weekly nutrient intake, highlights deficiencies, and tracks progress toward health goals.</a:t>
            </a:r>
          </a:p>
          <a:p>
            <a:r>
              <a:rPr lang="en-US" err="1"/>
              <a:t>LangFlow</a:t>
            </a:r>
            <a:r>
              <a:rPr lang="en-US"/>
              <a:t> is used to orchestrate agent workflows, while watsonx.ai ensures scalable model deployment, embeddings, and AI governance. Granite models power reasoning, summarization, and personalization.</a:t>
            </a:r>
          </a:p>
          <a:p>
            <a:r>
              <a:rPr lang="en-US"/>
              <a:t>Overall, this solution delivers an </a:t>
            </a:r>
            <a:r>
              <a:rPr lang="en-US" b="1"/>
              <a:t>end-to-end intelligent nutrition assistant</a:t>
            </a:r>
            <a:r>
              <a:rPr lang="en-US"/>
              <a:t> that promotes healthier lifestyles through personalized insights, real-time feedback, and preventive healthcare recommendations.</a:t>
            </a:r>
          </a:p>
          <a:p>
            <a:pPr fontAlgn="base"/>
            <a:endParaRPr lang="en-US"/>
          </a:p>
          <a:p>
            <a:endParaRPr lang="en-IN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Objective 1: Zero-Latency Agromet Monitoring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Continuously track hyper-local temperature, relative humidity (&gt;78% RH), and precipitation thresholds to predict pathogen outbreaks.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78608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Objective 2: Multi-Modal Pathology Diagnostics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Deterministic OpenCV color segmentation to isolate foliar chlorosis, fruit rot craters, and fungal necrotic lesions.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11296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Objective 3: Langflow Agentic Flow Orchestration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Build an extensible, modular visual pipeline connecting user input, sensor telemetry, RAG, and IBM Granite.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43984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Objective 4: Zero-Hallucination Chemical Grounding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Integrate ICAR/KVK vector retrieval to guarantee calibrated active ingredient recommendations (g/L or ml/L).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76672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Objective 5: Multi-Lingual Vernacular Inclusivity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Deploy multi-tier regional dialect voice generation (Kannada, Telugu, Hindi, English) for smallholder usability.</a:t>
            </a:r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Technology Used</a:t>
            </a:r>
            <a:endParaRPr lang="en-IN" sz="2400" b="1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Langflow Platform &amp; Components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Langflow Platform (Agentic visual pipeline)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Langflow Component Names: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  - Agent Component (Decision reasoning)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  - Chat Input &amp; Chat Output Components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  - Custom Python Tool Component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  - ChromaDB Vector Store Component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IBM Granite &amp; Cloud Platform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IBM watsonx.ai Cloud Platform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IBM Granite Model: ibm/granite-4-h-small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IBM Cloud IAM Security Authentication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Strict Agronomic JSON Schema Enforcement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Hosting Region: Dallas (us-south)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Vision, Storage &amp; Audio Stack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ChromaDB Vector Store (ICAR/KVK protocols)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OpenCV Deterministic Foliar Segmentation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Streamlit Native Dashboard Interface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gTTS Regional Edge Text-to-Speech Engine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Python 3.10+ Asynchronous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sz="2800" b="1">
                <a:solidFill>
                  <a:srgbClr val="0F3B2E"/>
                </a:solidFill>
                <a:latin typeface="Arial"/>
              </a:defRPr>
            </a:pPr>
            <a:r>
              <a:t>Langflow component Used</a:t>
            </a:r>
            <a:endParaRPr sz="2400" b="1">
              <a:sym typeface="Times New Roman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731520" y="1645920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1. Chat Input Component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Ingests farmer queries, targeted crop selection, field location coordinates, and high-resolution foliar disease photography.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31520" y="2578608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2. Custom Python Component (Agromet Sentinel)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Non-blocking daemon executing live agrometeorological evaluation against biological danger zones (RH &gt; 78% and rain probability).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31520" y="3511296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3. Custom Vision Component (OpenCV Pathology)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Performs deterministic RGB color segmentation to compute necrotic lesion surface percentages and foliar chlorosis patterns.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1520" y="4443984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4. Vector Store Component (ChromaDB RAG)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Retrieves verified ICAR and KVK agronomic protocols to inject calibrated active ingredients, dilution ratios, and safety intervals.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5376672"/>
            <a:ext cx="10698480" cy="841248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1900" b="1">
                <a:solidFill>
                  <a:srgbClr val="0F3B2E"/>
                </a:solidFill>
                <a:latin typeface="Arial"/>
              </a:defRPr>
            </a:pPr>
            <a:r>
              <a:t>5. Agent &amp; Chat Output Component (IBM Granite)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Orchestrates ibm/granite-4-h-small to synthesize inputs into a 4-tab structured advisory and triggers edge vernacular audio playback.</a:t>
            </a:r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sz="2800" b="1">
                <a:solidFill>
                  <a:srgbClr val="0F3B2E"/>
                </a:solidFill>
                <a:latin typeface="Arial"/>
              </a:defRPr>
            </a:pPr>
            <a:r>
              <a:t>Technical flow diagram- Architecture blueprint</a:t>
            </a:r>
            <a:endParaRPr sz="2400" b="1">
              <a:sym typeface="Times New Roman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Tier 1: Presentation &amp; Vernacular UI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Responsive Streamlit Dashboard Interface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Langflow Chat Interface &amp; Flow Runner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Vernacular Localization (KA / TE / HI / EN)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Edge Audio Playback (gTTS Synthesis)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High-Resolution Foliar Image Uploader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Tier 2: Langflow Orchestration &amp; RAG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Modular Langflow Agentic Flow Pipeline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SentinelDaemon: Async Agromet Poll (RH &gt; 78%)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VisionService: Deterministic OpenCV Masking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ChromaDB Vector Store: ICAR/KVK Protocols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Multi-Variable Agronomic Context Fusion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Tier 3: Foundation Model &amp; Cloud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IBM watsonx.ai Platform (Dallas Region)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Foundation Model: ibm/granite-4-h-small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Strict Agronomic JSON Schema Enforcement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IBM Cloud IAM Security Token Authentication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Autonomous Self-Healing Fallback Daemon</a:t>
            </a:r>
          </a:p>
        </p:txBody>
      </p:sp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Core Implementation &amp; Functional Modules</a:t>
            </a:r>
            <a:endParaRPr lang="en-US" sz="2400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SentinelDaemon Module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Asynchronous agromet polling daemon.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Evaluates RH &gt; 78% and rainfall probability.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Computes composite biological threat levels.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Dispatches proactive hazard alerts.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AgriRAG Vector Service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Segmented ICAR agronomic publications.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Dense semantic vector similarity search.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Restricts chemicals to vetted active ingredients.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Injects exact dilution ratios (g/L or ml/L).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Granite Inference Engine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watsonx.ai REST client integration.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Prompts ibm/granite-4-h-small with JSON schema.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Generates 4-tab structured clinical guidance.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Handles fallback parsing gracefully.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Rounded Rectangle 196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Tab 1: Agromet Risk Sentinel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Real-time temperature, humidity, and rain telemetry gauges.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Color-coded biological hazard alert banners (Red/Yellow/Green).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Instant vernacular text-to-speech advisory audio playback.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Tab 2: Foliar Pathology Vision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Dual-view image comparison: Original field photo vs OpenCV mask.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Necrotic surface area percentage calculation and severity metrics.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Symptom classification linked directly to pathogen profile.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731520" y="4023360"/>
            <a:ext cx="5212080" cy="214884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Tab 3: 7-Day Treatment Roadmap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Step-by-step chemical and organic spray intervention timeline.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Exact ICAR chemical dilutions (e.g., Metalaxyl + Mancozeb @ 2g/L).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Tank mixture safety, wait periods, and protective equipment guidelines.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217920" y="4023360"/>
            <a:ext cx="5212080" cy="214884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Tab 4: Economic Decision Simulation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Financial comparison: Preventative treatment cost vs crop loss.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Estimated input chemical costs vs net crop yield revenue saved.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Actionable ROI projections tailored to farm acreage.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l">
              <a:lnSpc>
                <a:spcPct val="157142"/>
              </a:lnSpc>
              <a:buClr>
                <a:srgbClr val="051D3A"/>
              </a:buClr>
              <a:buSzPts val="3500"/>
              <a:defRPr sz="2800" b="1">
                <a:solidFill>
                  <a:srgbClr val="0F3B2E"/>
                </a:solidFill>
                <a:latin typeface="Arial"/>
              </a:defRPr>
            </a:pPr>
            <a:r>
              <a:t>IBM watsonx.ai Model Usage</a:t>
            </a:r>
            <a:endParaRPr sz="2400" b="1">
              <a:sym typeface="Times New Roman"/>
            </a:endParaRPr>
          </a:p>
        </p:txBody>
      </p:sp>
      <p:pic>
        <p:nvPicPr>
          <p:cNvPr id="279" name="Picture 278" descr="watsonx_us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645920"/>
            <a:ext cx="6583680" cy="3703320"/>
          </a:xfrm>
          <a:prstGeom prst="rect">
            <a:avLst/>
          </a:prstGeom>
        </p:spPr>
      </p:pic>
      <p:sp>
        <p:nvSpPr>
          <p:cNvPr id="280" name="Rounded Rectangle 279"/>
          <p:cNvSpPr/>
          <p:nvPr/>
        </p:nvSpPr>
        <p:spPr>
          <a:xfrm>
            <a:off x="7589520" y="1645920"/>
            <a:ext cx="3840480" cy="438912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2200" b="1">
                <a:solidFill>
                  <a:srgbClr val="0F3B2E"/>
                </a:solidFill>
                <a:latin typeface="Arial"/>
              </a:defRPr>
            </a:pPr>
            <a:r>
              <a:t>Inference Telemetry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Foundation Model: ibm/granite-4-h-small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Serving Platform: IBM watsonx.ai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Hosting Region: Dallas (us-south)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Tokens Processed: 591 Tokens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Execution Time: 1.2s Average Latency</a:t>
            </a:r>
          </a:p>
          <a:p>
            <a:pPr>
              <a:spcBef>
                <a:spcPts val="1000"/>
              </a:spcBef>
              <a:defRPr sz="1600">
                <a:solidFill>
                  <a:srgbClr val="1E293B"/>
                </a:solidFill>
                <a:latin typeface="Arial"/>
              </a:defRPr>
            </a:pPr>
            <a:r>
              <a:t>Output Schema: Strict Agronomic JSON</a:t>
            </a: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Socio-Economic Impact</a:t>
            </a:r>
            <a:endParaRPr lang="en-IN" sz="2400" b="1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Cost Optimization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Eliminates ~35% of redundant routine chemical sprays.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Times agrochemicals strictly to biological infection windows.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Maximizes return on smallholder agricultural input costs.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Yield Preservation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48-72 hour lead time before active spore propagation.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Rapid disease suppression preserves marketable crop.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Protects harvest quality and seasonal farming revenue.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Environmental Safety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Curtails toxic groundwater chemical leaching.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Preserves beneficial soil microbiome and pollinators.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Prevents regional chemical resistance development.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sz="2800" b="1">
                <a:solidFill>
                  <a:srgbClr val="0F3B2E"/>
                </a:solidFill>
                <a:latin typeface="Arial"/>
              </a:defRPr>
            </a:pPr>
            <a: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Rounded Rectangle 278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Repository URL:</a:t>
            </a:r>
          </a:p>
          <a:p>
            <a:pPr>
              <a:spcAft>
                <a:spcPts val="1400"/>
              </a:spcAft>
              <a:defRPr sz="2000" b="1">
                <a:solidFill>
                  <a:srgbClr val="0A66C2"/>
                </a:solidFill>
                <a:latin typeface="Arial"/>
              </a:defRPr>
            </a:pPr>
            <a:r>
              <a:t>https://github.com/swarna-builds/AgriSense-AI-IBM-Granite</a:t>
            </a:r>
          </a:p>
          <a:p>
            <a:pPr>
              <a:spcBef>
                <a:spcPts val="800"/>
              </a:spcBef>
              <a:defRPr sz="2000" b="1">
                <a:solidFill>
                  <a:srgbClr val="0F3B2E"/>
                </a:solidFill>
                <a:latin typeface="Arial"/>
              </a:defRPr>
            </a:pPr>
            <a:r>
              <a:t>Mandatory Deliverables Verified on Remote Main Branch: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• app.py &amp; app.json — Langflow agentic workflow manifest and service dependencies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• yourproblemstatement.pdf — Formal problem formulation &amp; ICAR objectives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• your projectpresntation.pptx — Complete technical deck and architectural artifacts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• Source Code Repository — core/, services/, and automated test suite</a:t>
            </a: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sz="2800" b="1">
                <a:solidFill>
                  <a:srgbClr val="0F3B2E"/>
                </a:solidFill>
                <a:latin typeface="Arial"/>
              </a:defRPr>
            </a:pPr>
            <a:r>
              <a:t>Future Scope</a:t>
            </a:r>
            <a:endParaRPr sz="2400" b="1">
              <a:sym typeface="Times New Roman"/>
            </a:endParaRPr>
          </a:p>
        </p:txBody>
      </p:sp>
      <p:sp>
        <p:nvSpPr>
          <p:cNvPr id="279" name="Rounded Rectangle 278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Phase 1: Delivered Platform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Deployed Granite-4-H-Small agronomic engine.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Validated ICAR-grounded vector RAG retrieval.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Multi-modal Langflow agentic workflow.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Quad-language vernacular text-to-speech.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Phase 2: IoT Sensor Ingestion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Integrate LoRaWAN field probes for soil N-P-K.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Ingest live leaf wetness and soil moisture levels.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Micro-climate prediction models at farm level.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Direct drone multispectral aerial data feeds.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8F6"/>
          </a:solidFill>
          <a:ln w="19050">
            <a:solidFill>
              <a:srgbClr val="C8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2000" b="1">
                <a:solidFill>
                  <a:srgbClr val="0F3B2E"/>
                </a:solidFill>
                <a:latin typeface="Arial"/>
              </a:defRPr>
            </a:pPr>
            <a:r>
              <a:t>Phase 3: Edge Deployment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Quantized Granite-4-H-Small on local gateway devices.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Offline inference for zero-connectivity regions.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Autonomous smart-valve drip irrigation control.</a:t>
            </a:r>
          </a:p>
          <a:p>
            <a:pPr>
              <a:spcBef>
                <a:spcPts val="6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• Cooperative market price intelligence integration.</a:t>
            </a: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defRPr sz="2800" b="1">
                <a:solidFill>
                  <a:srgbClr val="0F3B2E"/>
                </a:solidFill>
                <a:latin typeface="Arial"/>
              </a:defRPr>
            </a:pPr>
            <a:r>
              <a:t>IBM SkillsBuild Completion Certificate</a:t>
            </a:r>
          </a:p>
          <a:p>
            <a:pPr algn="ctr"/>
            <a:endParaRPr lang="en-US"/>
          </a:p>
        </p:txBody>
      </p:sp>
      <p:pic>
        <p:nvPicPr>
          <p:cNvPr id="7" name="Picture 6" descr="skillsbuild_c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45920"/>
            <a:ext cx="9418320" cy="725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ertificate with red text&#10;&#10;AI-generated content may be incorrect.">
            <a:extLst>
              <a:ext uri="{FF2B5EF4-FFF2-40B4-BE49-F238E27FC236}">
                <a16:creationId xmlns:a16="http://schemas.microsoft.com/office/drawing/2014/main" id="{099C3698-991D-7A38-C456-893C84C23F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7" b="-275"/>
          <a:stretch>
            <a:fillRect/>
          </a:stretch>
        </p:blipFill>
        <p:spPr>
          <a:xfrm>
            <a:off x="2512736" y="1712637"/>
            <a:ext cx="7177553" cy="4658577"/>
          </a:xfrm>
          <a:prstGeom prst="rect">
            <a:avLst/>
          </a:prstGeom>
        </p:spPr>
      </p:pic>
      <p:pic>
        <p:nvPicPr>
          <p:cNvPr id="5" name="Picture 4" descr="bob_c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45920"/>
            <a:ext cx="9418320" cy="6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13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revision>11</cp:revision>
  <dcterms:created xsi:type="dcterms:W3CDTF">2025-07-08T05:06:56Z</dcterms:created>
  <dcterms:modified xsi:type="dcterms:W3CDTF">2026-09-07T12:03:00Z</dcterms:modified>
</cp:coreProperties>
</file>