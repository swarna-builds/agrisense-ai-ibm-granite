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37A25B-DA5D-A37C-3B36-7F0977405ABF}" v="154" dt="2026-06-19T05:59:42.731"/>
    <p1510:client id="{088AD18C-7811-B1E2-9ED5-57A1A5542DF6}" v="456" dt="2026-06-19T06:28:44.546"/>
    <p1510:client id="{A6B9108B-7598-1D50-C4AA-8A38026DAEEF}" v="18" dt="2026-06-19T06:56:18.840"/>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1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89710707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rotWithShape="1">
          <a:blip r:embed="rId3">
            <a:alphaModFix/>
          </a:blip>
          <a:srcRect/>
          <a:stretch/>
        </p:blipFill>
        <p:spPr>
          <a:xfrm>
            <a:off x="4053024" y="3738417"/>
            <a:ext cx="762500" cy="801811"/>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p>
          <a:p>
            <a:pPr>
              <a:spcAft>
                <a:spcPts val="600"/>
              </a:spcAft>
              <a:defRPr sz="1500">
                <a:latin typeface="Arial"/>
              </a:defRPr>
            </a:pPr>
            <a:r>
              <a:t>The proposed solution is an autonomous, multi-agent agronomic advisory platform built using Langflow, IBM watsonx.ai, and Granite Models to deliver proactive crop disease guidance and verified chemical calibration.</a:t>
            </a:r>
          </a:p>
          <a:p>
            <a:pPr>
              <a:spcAft>
                <a:spcPts val="600"/>
              </a:spcAft>
              <a:defRPr sz="1500">
                <a:latin typeface="Arial"/>
              </a:defRPr>
            </a:pPr>
            <a:r>
              <a:t>At its core, the solution uses a Retrieval-Augmented Generation (RAG) pipeline to fetch verified agronomic data from trusted ICAR (Indian Council of Agricultural Research) datasets. This knowledge is embedded in ChromaDB, enabling Granite models to cite exact active ingredients and per-liter dilution formulas.</a:t>
            </a:r>
          </a:p>
          <a:p>
            <a:pPr>
              <a:spcAft>
                <a:spcPts val="600"/>
              </a:spcAft>
              <a:defRPr sz="1500">
                <a:latin typeface="Arial"/>
              </a:defRPr>
            </a:pPr>
            <a:r>
              <a:t>The system consists of four key agents:</a:t>
            </a:r>
            <a:br/>
            <a:r>
              <a:t>• Agromet Sentinel Agent monitors real-time weather telemetry to predict pathogen outbreaks.</a:t>
            </a:r>
            <a:br/>
            <a:r>
              <a:t>• Foliar Vision Agent analyzes crop photos using OpenCV segmentation to quantify foliar lesions.</a:t>
            </a:r>
            <a:br/>
            <a:r>
              <a:t>• Agronomic RAG Agent retrieves validated ICAR chemical protocols, spray intervals, and safety guidelines.</a:t>
            </a:r>
            <a:br/>
            <a:r>
              <a:t>• Granite Orchestration Agent synthesizes weather risks, vision findings, and RAG knowledge into a 7-day roadmap.</a:t>
            </a:r>
          </a:p>
          <a:p>
            <a:pPr>
              <a:spcAft>
                <a:spcPts val="600"/>
              </a:spcAft>
              <a:defRPr sz="1500">
                <a:latin typeface="Arial"/>
              </a:defRPr>
            </a:pPr>
            <a:r>
              <a:t>Langflow visually orchestrates agent workflows, watsonx.ai guarantees scalable Granite model deployment with zero hallucinations, and a responsive Streamlit UI provides voice playback across regional Indian languages.</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a:p>
          <a:p>
            <a:r>
              <a:rPr lang="en-US" b="1"/>
              <a:t>Proposed Solution: AI-Powered Nutrition Agent</a:t>
            </a:r>
          </a:p>
          <a:p>
            <a:r>
              <a:rPr lang="en-US"/>
              <a:t>The proposed solution is a </a:t>
            </a:r>
            <a:r>
              <a:rPr lang="en-US" b="1"/>
              <a:t>multi-agent AI-powered Nutrition Agent</a:t>
            </a:r>
            <a:r>
              <a:rPr lang="en-US"/>
              <a:t> built using </a:t>
            </a:r>
            <a:r>
              <a:rPr lang="en-US" b="1" err="1"/>
              <a:t>LangFlow</a:t>
            </a:r>
            <a:r>
              <a:rPr lang="en-US" b="1"/>
              <a:t>, IBM watsonx.ai, and Granite Models</a:t>
            </a:r>
            <a:r>
              <a:rPr lang="en-US"/>
              <a:t> to provide personalized, real-time dietary guidance. The system addresses challenges in diet planning, nutrition tracking, and preventive healthcare through an intelligent, modular architecture.</a:t>
            </a:r>
          </a:p>
          <a:p>
            <a:r>
              <a:rPr lang="en-US"/>
              <a:t>At its core, the solution uses a </a:t>
            </a:r>
            <a:r>
              <a:rPr lang="en-US" b="1"/>
              <a:t>Retrieval-Augmented Generation (RAG)</a:t>
            </a:r>
            <a:r>
              <a:rPr lang="en-US"/>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a:t>The system consists of four key agents:</a:t>
            </a:r>
          </a:p>
          <a:p>
            <a:r>
              <a:rPr lang="en-US" b="1"/>
              <a:t>Nutrition Knowledge Agent</a:t>
            </a:r>
            <a:r>
              <a:rPr lang="en-US"/>
              <a:t> retrieves and summarizes nutritional information using RAG. </a:t>
            </a:r>
          </a:p>
          <a:p>
            <a:r>
              <a:rPr lang="en-US" b="1"/>
              <a:t>Diet Recommendation Agent</a:t>
            </a:r>
            <a:r>
              <a:rPr lang="en-US"/>
              <a:t> generates personalized meal plans based on user inputs such as age, health conditions, dietary preferences, and fitness goals. </a:t>
            </a:r>
          </a:p>
          <a:p>
            <a:r>
              <a:rPr lang="en-US" b="1"/>
              <a:t>Health Advisory Agent</a:t>
            </a:r>
            <a:r>
              <a:rPr lang="en-US"/>
              <a:t> provides preventive health suggestions, including disease-specific diets (e.g., diabetes-friendly or heart-healthy plans). </a:t>
            </a:r>
          </a:p>
          <a:p>
            <a:r>
              <a:rPr lang="en-US" b="1"/>
              <a:t>Food Log &amp; Feedback Agent</a:t>
            </a:r>
            <a:r>
              <a:rPr lang="en-US"/>
              <a:t> allows users to log meals via text, voice, or images and delivers instant nutritional analysis with actionable feedback. </a:t>
            </a:r>
          </a:p>
          <a:p>
            <a:r>
              <a:rPr lang="en-US"/>
              <a:t>The solution includes a </a:t>
            </a:r>
            <a:r>
              <a:rPr lang="en-US" b="1"/>
              <a:t>user-friendly dashboard</a:t>
            </a:r>
            <a:r>
              <a:rPr lang="en-US"/>
              <a:t> (built with </a:t>
            </a:r>
            <a:r>
              <a:rPr lang="en-US" err="1"/>
              <a:t>Streamlit</a:t>
            </a:r>
            <a:r>
              <a:rPr lang="en-US"/>
              <a:t> or React) that visualizes daily and weekly nutrient intake, highlights deficiencies, and tracks progress toward health goals.</a:t>
            </a:r>
          </a:p>
          <a:p>
            <a:r>
              <a:rPr lang="en-US" err="1"/>
              <a:t>LangFlow</a:t>
            </a:r>
            <a:r>
              <a:rPr lang="en-US"/>
              <a:t> is used to orchestrate agent workflows, while watsonx.ai ensures scalable model deployment, embeddings, and AI governance. Granite models power reasoning, summarization, and personalization.</a:t>
            </a:r>
          </a:p>
          <a:p>
            <a:r>
              <a:rPr lang="en-US"/>
              <a:t>Overall, this solution delivers an </a:t>
            </a:r>
            <a:r>
              <a:rPr lang="en-US" b="1"/>
              <a:t>end-to-end intelligent nutrition assistant</a:t>
            </a:r>
            <a:r>
              <a:rPr lang="en-US"/>
              <a:t> that promotes healthier lifestyles through personalized insights, real-time feedback, and preventive healthcare recommendations.</a:t>
            </a:r>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err="1"/>
              <a:t>Langflow</a:t>
            </a:r>
            <a:r>
              <a:rPr lang="en-US" sz="1800" b="1"/>
              <a:t> platform </a:t>
            </a:r>
            <a:r>
              <a:rPr lang="en-US" sz="1800"/>
              <a:t>-For designing and orchestrating multi-agent workflows visually</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a:t>
            </a:r>
            <a:r>
              <a:rPr lang="en-US" sz="1800" b="1" err="1"/>
              <a:t>Grainte</a:t>
            </a:r>
            <a:r>
              <a:rPr lang="en-US" sz="1800" b="1"/>
              <a:t> model </a:t>
            </a:r>
            <a:r>
              <a:rPr lang="en-US" sz="1800"/>
              <a:t>-  for </a:t>
            </a:r>
            <a:r>
              <a:rPr lang="en-US" sz="1800" err="1"/>
              <a:t>eg</a:t>
            </a:r>
            <a:r>
              <a:rPr lang="en-US" sz="1800"/>
              <a:t> – ibm-granite-3-2-8b – For natural language understanding, reasoning, and personalization</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Nutrition Agent efficiently. IBM Cloud enables a </a:t>
            </a:r>
            <a:r>
              <a:rPr lang="en-US" sz="1800" b="1"/>
              <a:t>reliable, secure, and scalable environment</a:t>
            </a:r>
            <a:r>
              <a:rPr lang="en-US" sz="1800"/>
              <a:t> for deploying the Nutrition Agent.</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RAG to </a:t>
            </a:r>
            <a:r>
              <a:rPr lang="en-US" sz="1800" b="1"/>
              <a:t>fetch real data first, then generate intelligent answers</a:t>
            </a:r>
            <a:r>
              <a:rPr lang="en-US" sz="1800"/>
              <a:t>, making the Nutrition Agent more trustworthy and effective.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 </a:t>
            </a:r>
            <a:r>
              <a:rPr lang="en-US" sz="1800"/>
              <a:t>For model deployment, embeddings, and AI governance</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IN" sz="1800" b="1"/>
              <a:t>Vector Database </a:t>
            </a:r>
            <a:r>
              <a:rPr lang="en-IN" sz="1800"/>
              <a:t>(FAISS/Chroma) – For RAG-based nutritional data retrieval</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5262979"/>
          </a:xfrm>
          <a:prstGeom prst="rect">
            <a:avLst/>
          </a:prstGeom>
          <a:noFill/>
        </p:spPr>
        <p:txBody>
          <a:bodyPr wrap="square" rtlCol="0">
            <a:spAutoFit/>
          </a:bodyPr>
          <a:lstStyle/>
          <a:p>
            <a:endParaRPr lang="en-US"/>
          </a:p>
          <a:p>
            <a:r>
              <a:rPr lang="en-US" b="1"/>
              <a:t>1) Chat Input </a:t>
            </a:r>
            <a:r>
              <a:rPr lang="en-US"/>
              <a:t>– Interface where users enter their queries, preferences, or meal details (text/voice/image).</a:t>
            </a:r>
          </a:p>
          <a:p>
            <a:endParaRPr lang="en-US"/>
          </a:p>
          <a:p>
            <a:r>
              <a:rPr lang="en-US" b="1"/>
              <a:t>2) IBM </a:t>
            </a:r>
            <a:r>
              <a:rPr lang="en-US" b="1" err="1"/>
              <a:t>watsonx</a:t>
            </a:r>
            <a:r>
              <a:rPr lang="en-US" b="1"/>
              <a:t> AI Agent </a:t>
            </a:r>
            <a:r>
              <a:rPr lang="en-US"/>
              <a:t>- Processes user input using Granite models to generate personalized nutrition insights and recommendations. </a:t>
            </a:r>
          </a:p>
          <a:p>
            <a:endParaRPr lang="en-US"/>
          </a:p>
          <a:p>
            <a:r>
              <a:rPr lang="en-US" b="1"/>
              <a:t>3) Name of IBM Granite model - </a:t>
            </a:r>
            <a:r>
              <a:rPr lang="en-US"/>
              <a:t>Granite-4.0-8B-Instruct → Fast, efficient for real-time diet recommendations</a:t>
            </a:r>
          </a:p>
          <a:p>
            <a:endParaRPr lang="en-US"/>
          </a:p>
          <a:p>
            <a:r>
              <a:rPr lang="en-US" b="1"/>
              <a:t>4) Chat output -</a:t>
            </a:r>
            <a:r>
              <a:rPr lang="en-US"/>
              <a:t>Displays AI-generated responses such as diet plans, nutritional analysis, and health suggestions. </a:t>
            </a:r>
          </a:p>
          <a:p>
            <a:endParaRPr lang="en-US"/>
          </a:p>
          <a:p>
            <a:r>
              <a:rPr lang="en-US" b="1"/>
              <a:t>5) </a:t>
            </a:r>
            <a:r>
              <a:rPr lang="en-US" b="1">
                <a:highlight>
                  <a:srgbClr val="FFFF00"/>
                </a:highlight>
              </a:rPr>
              <a:t>File component - </a:t>
            </a:r>
            <a:r>
              <a:rPr lang="en-US">
                <a:highlight>
                  <a:srgbClr val="FFFF00"/>
                </a:highlight>
              </a:rPr>
              <a:t>Stores and retrieves user data, meal logs, and nutritional datasets for analysis and tracking.</a:t>
            </a:r>
          </a:p>
          <a:p>
            <a:endParaRPr lang="en-US"/>
          </a:p>
          <a:p>
            <a:endParaRPr lang="en-US"/>
          </a:p>
          <a:p>
            <a:r>
              <a:rPr lang="en-US"/>
              <a:t>6) </a:t>
            </a:r>
            <a:r>
              <a:rPr lang="en-US">
                <a:highlight>
                  <a:srgbClr val="FFFF00"/>
                </a:highlight>
              </a:rPr>
              <a:t>Add name of any other component used.</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pic>
        <p:nvPicPr>
          <p:cNvPr id="154" name="Picture 153" descr="langflow_workflow.png"/>
          <p:cNvPicPr>
            <a:picLocks noChangeAspect="1"/>
          </p:cNvPicPr>
          <p:nvPr/>
        </p:nvPicPr>
        <p:blipFill>
          <a:blip r:embed="rId3"/>
          <a:stretch>
            <a:fillRect/>
          </a:stretch>
        </p:blipFill>
        <p:spPr>
          <a:xfrm>
            <a:off x="731520" y="1645920"/>
            <a:ext cx="10698480" cy="4572000"/>
          </a:xfrm>
          <a:prstGeom prst="rect">
            <a:avLst/>
          </a:prstGeom>
        </p:spPr>
      </p:pic>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3" name="Picture 2" descr="architecture_blueprint.png"/>
          <p:cNvPicPr>
            <a:picLocks noChangeAspect="1"/>
          </p:cNvPicPr>
          <p:nvPr/>
        </p:nvPicPr>
        <p:blipFill>
          <a:blip r:embed="rId4"/>
          <a:stretch>
            <a:fillRect/>
          </a:stretch>
        </p:blipFill>
        <p:spPr>
          <a:xfrm>
            <a:off x="731520" y="1645920"/>
            <a:ext cx="10698480" cy="4572000"/>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3" name="Picture 2">
            <a:extLst>
              <a:ext uri="{FF2B5EF4-FFF2-40B4-BE49-F238E27FC236}">
                <a16:creationId xmlns:a16="http://schemas.microsoft.com/office/drawing/2014/main" id="{81932CE2-F219-0CA8-0102-55B8C682B8A2}"/>
              </a:ext>
            </a:extLst>
          </p:cNvPr>
          <p:cNvPicPr>
            <a:picLocks noChangeAspect="1"/>
          </p:cNvPicPr>
          <p:nvPr/>
        </p:nvPicPr>
        <p:blipFill>
          <a:blip r:embed="rId3"/>
          <a:stretch>
            <a:fillRect/>
          </a:stretch>
        </p:blipFill>
        <p:spPr>
          <a:xfrm>
            <a:off x="535570" y="675732"/>
            <a:ext cx="11468100" cy="61817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Nutrition Agent</a:t>
            </a:r>
          </a:p>
          <a:p>
            <a:r>
              <a:rPr lang="en-US" b="1"/>
              <a:t>Agentic AI</a:t>
            </a:r>
            <a:r>
              <a:rPr lang="en-US"/>
              <a:t> enables the Nutrition Agent to function as an intelligent, autonomous system rather than a simple chatbot. Using </a:t>
            </a:r>
            <a:r>
              <a:rPr lang="en-US" b="1"/>
              <a:t>IBM watsonx.ai</a:t>
            </a:r>
            <a:r>
              <a:rPr lang="en-US"/>
              <a:t> and </a:t>
            </a:r>
            <a:r>
              <a:rPr lang="en-US" b="1"/>
              <a:t>IBM Granite models</a:t>
            </a:r>
            <a:r>
              <a:rPr lang="en-US"/>
              <a:t>, it coordinates multiple specialized agents to deliver personalized nutrition guidance.</a:t>
            </a:r>
          </a:p>
          <a:p>
            <a:r>
              <a:rPr lang="en-US"/>
              <a:t>Each agent performs a specific role—such as retrieving nutritional data, generating diet plans, providing health advice, and analyzing food logs—while working collaboratively. This </a:t>
            </a:r>
            <a:r>
              <a:rPr lang="en-US" b="1"/>
              <a:t>multi-agent approach</a:t>
            </a:r>
            <a:r>
              <a:rPr lang="en-US"/>
              <a:t>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a:t>
            </a:r>
            <a:r>
              <a:rPr lang="en-US" b="1"/>
              <a:t>smart digital nutritionist</a:t>
            </a:r>
            <a:r>
              <a:rPr lang="en-US"/>
              <a:t> that helps users maintain a healthy lifestyle.</a:t>
            </a:r>
          </a:p>
        </p:txBody>
      </p:sp>
      <p:pic>
        <p:nvPicPr>
          <p:cNvPr id="4" name="Picture 3" descr="watsonx_usage.png"/>
          <p:cNvPicPr>
            <a:picLocks noChangeAspect="1"/>
          </p:cNvPicPr>
          <p:nvPr/>
        </p:nvPicPr>
        <p:blipFill>
          <a:blip r:embed="rId4"/>
          <a:stretch>
            <a:fillRect/>
          </a:stretch>
        </p:blipFill>
        <p:spPr>
          <a:xfrm>
            <a:off x="1371600" y="2011680"/>
            <a:ext cx="9418320"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a:t>The proposed Nutrition Agent stands out by combining </a:t>
            </a:r>
            <a:r>
              <a:rPr lang="en-IN" sz="1800" b="1"/>
              <a:t>Agentic AI, RAG, and personalization</a:t>
            </a:r>
            <a:r>
              <a:rPr lang="en-IN" sz="1800"/>
              <a:t> into a single intelligent system.</a:t>
            </a:r>
          </a:p>
          <a:p>
            <a:endParaRPr lang="en-IN" sz="1800"/>
          </a:p>
          <a:p>
            <a:r>
              <a:rPr lang="en-IN" sz="1800" b="1"/>
              <a:t>Multi-Agent Intelligence</a:t>
            </a:r>
            <a:r>
              <a:rPr lang="en-IN" sz="1800"/>
              <a:t> – Instead of a single chatbot, multiple specialized agents collaborate to deliver accurate and context-aware nutrition guidance. </a:t>
            </a:r>
          </a:p>
          <a:p>
            <a:r>
              <a:rPr lang="en-IN" sz="1800" b="1"/>
              <a:t>RAG-Based Accuracy</a:t>
            </a:r>
            <a:r>
              <a:rPr lang="en-IN" sz="1800"/>
              <a:t> – Integrates real-time data retrieval with AI generation, reducing misinformation and ensuring trustworthy recommendations. </a:t>
            </a:r>
          </a:p>
          <a:p>
            <a:r>
              <a:rPr lang="en-IN" sz="1800" b="1"/>
              <a:t>Hyper-Personalization</a:t>
            </a:r>
            <a:r>
              <a:rPr lang="en-IN" sz="1800"/>
              <a:t> – Tailors diet plans based on health conditions, cultural preferences, and fitness goals. </a:t>
            </a:r>
          </a:p>
          <a:p>
            <a:r>
              <a:rPr lang="en-IN" sz="1800" b="1"/>
              <a:t>Real-Time Feedback Loop</a:t>
            </a:r>
            <a:r>
              <a:rPr lang="en-IN" sz="1800"/>
              <a:t> – Continuously adapts recommendations based on daily food logs and user </a:t>
            </a:r>
            <a:r>
              <a:rPr lang="en-IN" sz="1800" err="1"/>
              <a:t>behavior</a:t>
            </a:r>
            <a:r>
              <a:rPr lang="en-IN" sz="1800"/>
              <a:t>. </a:t>
            </a:r>
          </a:p>
          <a:p>
            <a:r>
              <a:rPr lang="en-IN" sz="1800" b="1"/>
              <a:t>Multi-Modal Input</a:t>
            </a:r>
            <a:r>
              <a:rPr lang="en-IN" sz="1800"/>
              <a:t> – Supports text, voice, and image-based meal tracking for better usability. </a:t>
            </a:r>
          </a:p>
          <a:p>
            <a:r>
              <a:rPr lang="en-IN" sz="1800" b="1"/>
              <a:t>Preventive Healthcare Focus</a:t>
            </a:r>
            <a:r>
              <a:rPr lang="en-IN" sz="1800"/>
              <a:t> – Goes beyond diet planning to provide disease-specific nutrition advice. </a:t>
            </a:r>
          </a:p>
          <a:p>
            <a:r>
              <a:rPr lang="en-IN" sz="1800" b="1"/>
              <a:t>Scalable &amp; Enterprise-Ready</a:t>
            </a:r>
            <a:r>
              <a:rPr lang="en-IN" sz="1800"/>
              <a:t> – Built on </a:t>
            </a:r>
            <a:r>
              <a:rPr lang="en-IN" sz="1800" b="1"/>
              <a:t>IBM watsonx.ai</a:t>
            </a:r>
            <a:r>
              <a:rPr lang="en-IN" sz="1800"/>
              <a:t> with </a:t>
            </a:r>
            <a:r>
              <a:rPr lang="en-IN" sz="1800" b="1"/>
              <a:t>IBM Granite models</a:t>
            </a:r>
            <a:r>
              <a:rPr lang="en-IN" sz="1800"/>
              <a:t>, ensuring reliability and governance. </a:t>
            </a:r>
          </a:p>
          <a:p>
            <a:endParaRPr lang="en-IN" sz="1800"/>
          </a:p>
          <a:p>
            <a:r>
              <a:rPr lang="en-IN" sz="1800"/>
              <a:t>This makes the solution a </a:t>
            </a:r>
            <a:r>
              <a:rPr lang="en-IN" sz="1800" b="1"/>
              <a:t>smart, adaptive, and proactive digital nutritionist</a:t>
            </a:r>
            <a:r>
              <a:rPr lang="en-IN" sz="1800"/>
              <a:t>, not just a static diet recommendation tool.</a:t>
            </a:r>
            <a:endParaRPr lang="en-US"/>
          </a:p>
          <a:p>
            <a:endParaRPr lang="en-IN"/>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endParaRPr lang="en-US" sz="1850" dirty="0">
              <a:solidFill>
                <a:srgbClr val="2B3541"/>
              </a:solidFill>
              <a:latin typeface="Times New Roman"/>
              <a:ea typeface="Times New Roman"/>
              <a:cs typeface="Times New Roman"/>
            </a:endParaRP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dirty="0">
                <a:solidFill>
                  <a:srgbClr val="2B3541"/>
                </a:solidFill>
                <a:latin typeface="Times New Roman"/>
                <a:ea typeface="Times New Roman"/>
                <a:cs typeface="Times New Roman"/>
                <a:sym typeface="Times New Roman"/>
              </a:rPr>
              <a:t>1) </a:t>
            </a:r>
            <a:r>
              <a:rPr lang="en-US" sz="1850" dirty="0" err="1">
                <a:solidFill>
                  <a:srgbClr val="2B3541"/>
                </a:solidFill>
                <a:latin typeface="Times New Roman"/>
                <a:ea typeface="Times New Roman"/>
                <a:cs typeface="Times New Roman"/>
                <a:sym typeface="Times New Roman"/>
              </a:rPr>
              <a:t>app.json</a:t>
            </a:r>
            <a:r>
              <a:rPr lang="en-US" sz="1850"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lang="en-US" sz="1850" dirty="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7" name="Picture 6" descr="bob_cert.png"/>
          <p:cNvPicPr>
            <a:picLocks noChangeAspect="1"/>
          </p:cNvPicPr>
          <p:nvPr/>
        </p:nvPicPr>
        <p:blipFill>
          <a:blip r:embed="rId3"/>
          <a:stretch>
            <a:fillRect/>
          </a:stretch>
        </p:blipFill>
        <p:spPr>
          <a:xfrm>
            <a:off x="2553442" y="1343396"/>
            <a:ext cx="7075219" cy="5309259"/>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103120"/>
            <a:ext cx="10332720" cy="2926080"/>
          </a:xfrm>
          <a:prstGeom prst="rect">
            <a:avLst/>
          </a:prstGeom>
          <a:noFill/>
        </p:spPr>
        <p:txBody>
          <a:bodyPr wrap="square">
            <a:spAutoFit/>
          </a:bodyPr>
          <a:lstStyle/>
          <a:p>
            <a:pPr algn="ctr">
              <a:spcAft>
                <a:spcPts val="2000"/>
              </a:spcAft>
              <a:defRPr sz="6400" b="1">
                <a:solidFill>
                  <a:srgbClr val="0F3B2E"/>
                </a:solidFill>
                <a:latin typeface="Arial"/>
              </a:defRPr>
            </a:pPr>
            <a:r>
              <a:t>Thank You!</a:t>
            </a:r>
          </a:p>
          <a:p>
            <a:pPr algn="ctr">
              <a:defRPr sz="2400">
                <a:solidFill>
                  <a:srgbClr val="4A5568"/>
                </a:solidFill>
                <a:latin typeface="Arial"/>
              </a:defRPr>
            </a:pPr>
            <a:r>
              <a:t>Thank you for your time and interest.</a:t>
            </a:r>
          </a:p>
        </p:txBody>
      </p:sp>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16</Slides>
  <Notes>13</Notes>
  <HiddenSlides>0</HiddenSlide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revision>11</cp:revision>
  <dcterms:created xsi:type="dcterms:W3CDTF">2025-07-08T05:06:56Z</dcterms:created>
  <dcterms:modified xsi:type="dcterms:W3CDTF">2026-09-07T12:03:00Z</dcterms:modified>
</cp:coreProperties>
</file>