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Calibri (MS) Bold" charset="1" panose="020F0702030404030204"/>
      <p:regular r:id="rId27"/>
    </p:embeddedFont>
    <p:embeddedFont>
      <p:font typeface="Calibri (MS) Bold Italics" charset="1" panose="020F07020304040A0204"/>
      <p:regular r:id="rId28"/>
    </p:embeddedFont>
    <p:embeddedFont>
      <p:font typeface="Arial" charset="1" panose="020B0604020202020204"/>
      <p:regular r:id="rId32"/>
    </p:embeddedFont>
    <p:embeddedFont>
      <p:font typeface="Arial Bold" charset="1" panose="020B0704020202020204"/>
      <p:regular r:id="rId33"/>
    </p:embeddedFont>
    <p:embeddedFont>
      <p:font typeface="Times New Roman Bold" charset="1" panose="02020803070505020304"/>
      <p:regular r:id="rId34"/>
    </p:embeddedFont>
    <p:embeddedFont>
      <p:font typeface="Times New Roman" charset="1" panose="02020603050405020304"/>
      <p:regular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notesMasters/notesMaster1.xml" Type="http://schemas.openxmlformats.org/officeDocument/2006/relationships/notesMaster"/><Relationship Id="rId3" Target="viewProps.xml" Type="http://schemas.openxmlformats.org/officeDocument/2006/relationships/viewProps"/><Relationship Id="rId30" Target="theme/theme2.xml" Type="http://schemas.openxmlformats.org/officeDocument/2006/relationships/theme"/><Relationship Id="rId31" Target="notesSlides/notesSlide1.xml" Type="http://schemas.openxmlformats.org/officeDocument/2006/relationships/notesSlide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notesSlides/notesSlide2.xml" Type="http://schemas.openxmlformats.org/officeDocument/2006/relationships/notesSlide"/><Relationship Id="rId36" Target="notesSlides/notesSlide3.xml" Type="http://schemas.openxmlformats.org/officeDocument/2006/relationships/notesSlide"/><Relationship Id="rId37" Target="notesSlides/notesSlide4.xml" Type="http://schemas.openxmlformats.org/officeDocument/2006/relationships/notesSlide"/><Relationship Id="rId38" Target="notesSlides/notesSlide5.xml" Type="http://schemas.openxmlformats.org/officeDocument/2006/relationships/notesSlide"/><Relationship Id="rId39" Target="notesSlides/notesSlide6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7.xml" Type="http://schemas.openxmlformats.org/officeDocument/2006/relationships/notesSlide"/><Relationship Id="rId41" Target="notesSlides/notesSlide8.xml" Type="http://schemas.openxmlformats.org/officeDocument/2006/relationships/notesSlide"/><Relationship Id="rId42" Target="notesSlides/notesSlide9.xml" Type="http://schemas.openxmlformats.org/officeDocument/2006/relationships/notesSlide"/><Relationship Id="rId43" Target="fonts/font43.fntdata" Type="http://schemas.openxmlformats.org/officeDocument/2006/relationships/font"/><Relationship Id="rId44" Target="notesSlides/notesSlide10.xml" Type="http://schemas.openxmlformats.org/officeDocument/2006/relationships/notesSlide"/><Relationship Id="rId45" Target="notesSlides/notesSlide11.xml" Type="http://schemas.openxmlformats.org/officeDocument/2006/relationships/notesSlide"/><Relationship Id="rId46" Target="notesSlides/notesSlide12.xml" Type="http://schemas.openxmlformats.org/officeDocument/2006/relationships/notesSlide"/><Relationship Id="rId47" Target="notesSlides/notesSlide13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2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47775" y="2564606"/>
            <a:ext cx="15773400" cy="4279106"/>
            <a:chOff x="0" y="0"/>
            <a:chExt cx="21031200" cy="5705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5705474"/>
            </a:xfrm>
            <a:custGeom>
              <a:avLst/>
              <a:gdLst/>
              <a:ahLst/>
              <a:cxnLst/>
              <a:rect r="r" b="b" t="t" l="l"/>
              <a:pathLst>
                <a:path h="5705474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5705474"/>
                  </a:lnTo>
                  <a:lnTo>
                    <a:pt x="0" y="57054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824" r="0" b="-2182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21031200" cy="580072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0692"/>
                </a:lnSpc>
              </a:pPr>
              <a:r>
                <a:rPr lang="en-US" sz="9900" b="true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IBM University Engagement Project Submission</a:t>
              </a:r>
            </a:p>
            <a:p>
              <a:pPr algn="ctr">
                <a:lnSpc>
                  <a:spcPts val="10692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13516" y="5882145"/>
            <a:ext cx="15590549" cy="2177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b="true" sz="3600" i="true">
                <a:solidFill>
                  <a:srgbClr val="888888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“Exploring the Power of Agentic AI with IBM Granite and LangFlow”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948886" y="3900473"/>
          <a:ext cx="14058900" cy="3238500"/>
        </p:xfrm>
        <a:graphic>
          <a:graphicData uri="http://schemas.openxmlformats.org/drawingml/2006/table">
            <a:tbl>
              <a:tblPr/>
              <a:tblGrid>
                <a:gridCol w="3094464"/>
                <a:gridCol w="3654812"/>
                <a:gridCol w="3654812"/>
                <a:gridCol w="3654812"/>
              </a:tblGrid>
              <a:tr h="14617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Student Name</a:t>
                      </a:r>
                      <a:endParaRPr lang="en-US" sz="1100"/>
                    </a:p>
                  </a:txBody>
                  <a:tcPr marL="91450" marR="91450" marT="91450" marB="91450" anchor="ctr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Recent Passport Photo</a:t>
                      </a:r>
                      <a:endParaRPr lang="en-US" sz="1100"/>
                    </a:p>
                  </a:txBody>
                  <a:tcPr marL="91450" marR="91450" marT="91450" marB="91450" anchor="ctr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ID </a:t>
                      </a:r>
                      <a:endParaRPr lang="en-US" sz="1100"/>
                    </a:p>
                  </a:txBody>
                  <a:tcPr marL="91450" marR="91450" marT="91450" marB="91450" anchor="ctr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Mobile number</a:t>
                      </a:r>
                      <a:endParaRPr lang="en-US" sz="1100"/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27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[WhatsApp] </a:t>
                      </a:r>
                    </a:p>
                  </a:txBody>
                  <a:tcPr marL="91450" marR="91450" marT="91450" marB="91450" anchor="ctr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177673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 SWARNA LAKSHM</a:t>
                      </a:r>
                      <a:endParaRPr lang="en-US" sz="1100"/>
                    </a:p>
                  </a:txBody>
                  <a:tcPr marL="91450" marR="91450" marT="91450" marB="91450" anchor="t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91450" marR="91450" marT="91450" marB="91450" anchor="t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swarnalakshmim2006@gmail.com </a:t>
                      </a:r>
                      <a:endParaRPr lang="en-US" sz="1100"/>
                    </a:p>
                  </a:txBody>
                  <a:tcPr marL="91450" marR="91450" marT="91450" marB="91450" anchor="t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6360306436</a:t>
                      </a:r>
                      <a:endParaRPr lang="en-US" sz="1100"/>
                    </a:p>
                  </a:txBody>
                  <a:tcPr marL="91450" marR="91450" marT="91450" marB="91450" anchor="t">
                    <a:lnL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</a:tr>
            </a:tbl>
          </a:graphicData>
        </a:graphic>
      </p:graphicFrame>
      <p:grpSp>
        <p:nvGrpSpPr>
          <p:cNvPr name="Group 3" id="3"/>
          <p:cNvGrpSpPr/>
          <p:nvPr/>
        </p:nvGrpSpPr>
        <p:grpSpPr>
          <a:xfrm rot="0">
            <a:off x="6079531" y="5607625"/>
            <a:ext cx="1143752" cy="1202712"/>
            <a:chOff x="0" y="0"/>
            <a:chExt cx="1525003" cy="16036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25016" cy="1603629"/>
            </a:xfrm>
            <a:custGeom>
              <a:avLst/>
              <a:gdLst/>
              <a:ahLst/>
              <a:cxnLst/>
              <a:rect r="r" b="b" t="t" l="l"/>
              <a:pathLst>
                <a:path h="1603629" w="1525016">
                  <a:moveTo>
                    <a:pt x="0" y="0"/>
                  </a:moveTo>
                  <a:lnTo>
                    <a:pt x="1525016" y="0"/>
                  </a:lnTo>
                  <a:lnTo>
                    <a:pt x="1525016" y="1603629"/>
                  </a:lnTo>
                  <a:lnTo>
                    <a:pt x="0" y="16036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2848" r="0" b="-12848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900685" y="2637579"/>
            <a:ext cx="141071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Domain of  Project – Agriculture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00685" y="1225968"/>
            <a:ext cx="12430660" cy="1076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438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Tile – AgriSense AI: Autonomous Agronomic Decision &amp;                                                     Agromet Advisory Platform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5548" y="1878330"/>
            <a:ext cx="15727680" cy="531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: AgriSense AI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 Challenge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Smallholder agriculture remains vulnerable to unpredictable micro-climatic sh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 sudde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ks.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ike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Downy Mildew and Late Blight proliferate when relative humidity exceeds 78% RH, causing irreversible cellular damage days before visual symptoms ap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ar. Farme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rely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-hoc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eale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adv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ice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causing severe agrochemical overdosing, while generic commercial LLMs invent hazardous, uncalibrated chemical recipes.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 Objective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omous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Sentinel: 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ontin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uou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tor live humidity and rainfall to 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emptive alerts before spore germination.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ICAR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ck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RAG Retrieval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Fetch verified active ingredients and exact dilution schedules (e.g., Metalaxyl @ 2g/L) from univers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sets.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Foliar Pathology Vision: Segment foliar lesions and chlorosis f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aded field photos using deterministic OpenCV.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Multi-Agent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Orch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inel, Vision, RAG, and Gran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gen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erate compl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7-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 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reatment plans.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ular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Voic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Delivery: Deliver f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 oper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ationa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 guidance in Kannada, Telugu, Hindi, and English with edge audio synthesis.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55548" y="1073277"/>
            <a:ext cx="10639044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238375"/>
            <a:ext cx="15727680" cy="5915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</a:p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Solution: AgriSense AI 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proposed solution is an autonomous,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multi-agent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adv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form built using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low, IBM watsonx.ai, and Granite Models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deliver proactive crop disease guidance and verified chemical calibration. 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its core, the solution uses a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Retrieval-Augmented Generation (RAG)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pipeline to fetch verified agronomic data from trusted ICAR (Indian Council of Agricultural Research) datasets. This data is embedded and stored in a vector database, enabling the system to retrieve exact active ingredients, safety intervals, and per-liter dilution formulas using Granite models.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 consists of four key agents: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Agrom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entin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Agent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Monitors real-time weather telemetry to predict pathogen outbreaks.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Foliar Vision Agent: Analyzes crop photos using OpenCV segmentation to quantify foliar lesions.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Agronomic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Agent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Retrieves validated ICAR chemical protocols, spray intervals, and safety guidelines.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Granite Orchestrati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Agent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Synthesizes weather risks, vision findings, and RAG knowledge into a 7-day roadmap.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solution includes a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user-friendly dashboard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(built with Streamlit) that visualizes environmental risk gauges, foliar pathology masks, and 7-day treatment schedules with voice output. Langflow orchestrates agent workflows, while watsonx.ai ensures scalable model deployment and AI governance. </a:t>
            </a:r>
          </a:p>
          <a:p>
            <a:pPr algn="l">
              <a:lnSpc>
                <a:spcPts val="240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506258"/>
            <a:ext cx="1063904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733934"/>
            <a:ext cx="10501884" cy="629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Technology Used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152775"/>
            <a:ext cx="16230600" cy="397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Langflow platform: For visually designing, orchestrating, and connecting multi-agent RAG pipelines and custom tools.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Granite model (ibm/granite-4-h-small): For agronomic reasoning, JSON schema formulation, and generating personalized 7-day roadmaps. </a:t>
            </a:r>
          </a:p>
          <a:p>
            <a:pPr algn="l">
              <a:lnSpc>
                <a:spcPts val="2400"/>
              </a:lnSpc>
            </a:pPr>
          </a:p>
          <a:p>
            <a:pPr algn="l" marL="361950" indent="-180975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Cloud: Provides scalable, reliable cloud infrastructure and secure IAM token management to host and execute services.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 (Retrieval-Augmented Generation): Fetches real-world ICAR/KVK agronomic protocols first, eliminating hallucinations and ensuring safe active ingredients.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watsonx.ai: For enterprise model deployment, prompt engineering, AI governance, and low-latency inference.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Vector Database (ChromaDB): For vectorizing and retrieving chunked ICAR agronomic research publications. </a:t>
            </a:r>
          </a:p>
          <a:p>
            <a:pPr algn="l" marL="361950" indent="-180975" lvl="1">
              <a:lnSpc>
                <a:spcPts val="24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8138"/>
            <a:ext cx="886339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Langflow</a:t>
            </a:r>
            <a:r>
              <a:rPr lang="en-US" b="true" sz="2799">
                <a:solidFill>
                  <a:srgbClr val="051D3A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component Used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95575"/>
            <a:ext cx="13053060" cy="488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Chat Input: Interface where farmers submit crop type, field location, and upload foliar leaf/fruit images (text/image).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watsonx AI Agent: Ingests telemetry, vision metrics, and farmer queries to orchestrate Granite reasoning.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Name of IBM Granite model: ibm/granite-4-h-small (Granite 4.0) — Fast, efficient, and precise for real-time structured agronomic JSON generation.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Chat output: Displays AI-generated 4-tab advisory (Risk Sentinel, Pathology Mask, 7-Day Treatment Plan, Economic ROI).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Custom Component / Vector Store (ChromaDB): Stores and semantically retrieves ICAR chemical packages and dilution ratios.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Custom OpenCV Vision Component: Preprocesses and segments uploaded crop photography into necrotic lesion masks. </a:t>
            </a:r>
          </a:p>
          <a:p>
            <a:pPr algn="l">
              <a:lnSpc>
                <a:spcPts val="240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64127" y="2284164"/>
            <a:ext cx="12763083" cy="6127128"/>
            <a:chOff x="0" y="0"/>
            <a:chExt cx="22936200" cy="11010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936200" cy="11010900"/>
            </a:xfrm>
            <a:custGeom>
              <a:avLst/>
              <a:gdLst/>
              <a:ahLst/>
              <a:cxnLst/>
              <a:rect r="r" b="b" t="t" l="l"/>
              <a:pathLst>
                <a:path h="11010900" w="22936200">
                  <a:moveTo>
                    <a:pt x="0" y="0"/>
                  </a:moveTo>
                  <a:lnTo>
                    <a:pt x="22936200" y="0"/>
                  </a:lnTo>
                  <a:lnTo>
                    <a:pt x="22936200" y="11010900"/>
                  </a:lnTo>
                  <a:lnTo>
                    <a:pt x="0" y="11010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8585" r="0" b="-858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2464127" y="1284813"/>
            <a:ext cx="8863394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Langflow</a:t>
            </a:r>
            <a:r>
              <a:rPr lang="en-US" b="true" sz="3600">
                <a:solidFill>
                  <a:srgbClr val="051D3A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workflow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98022" y="1274944"/>
            <a:ext cx="8863394" cy="739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 blueprint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998022" y="2366651"/>
            <a:ext cx="13772778" cy="6891649"/>
            <a:chOff x="0" y="0"/>
            <a:chExt cx="22936200" cy="114768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936200" cy="11476860"/>
            </a:xfrm>
            <a:custGeom>
              <a:avLst/>
              <a:gdLst/>
              <a:ahLst/>
              <a:cxnLst/>
              <a:rect r="r" b="b" t="t" l="l"/>
              <a:pathLst>
                <a:path h="11476860" w="22936200">
                  <a:moveTo>
                    <a:pt x="0" y="0"/>
                  </a:moveTo>
                  <a:lnTo>
                    <a:pt x="22936200" y="0"/>
                  </a:lnTo>
                  <a:lnTo>
                    <a:pt x="22936200" y="11476860"/>
                  </a:lnTo>
                  <a:lnTo>
                    <a:pt x="0" y="11476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6207" r="0" b="-6207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57979" y="1751238"/>
            <a:ext cx="4523013" cy="6784524"/>
            <a:chOff x="0" y="0"/>
            <a:chExt cx="6030684" cy="90460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030722" cy="9046083"/>
            </a:xfrm>
            <a:custGeom>
              <a:avLst/>
              <a:gdLst/>
              <a:ahLst/>
              <a:cxnLst/>
              <a:rect r="r" b="b" t="t" l="l"/>
              <a:pathLst>
                <a:path h="9046083" w="6030722">
                  <a:moveTo>
                    <a:pt x="0" y="0"/>
                  </a:moveTo>
                  <a:lnTo>
                    <a:pt x="6030722" y="0"/>
                  </a:lnTo>
                  <a:lnTo>
                    <a:pt x="6030722" y="9046083"/>
                  </a:lnTo>
                  <a:lnTo>
                    <a:pt x="0" y="90460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339325"/>
            <a:ext cx="573786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Role of Agentic AI in the solution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227362"/>
            <a:ext cx="10927080" cy="488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Agentic AI enables AgriSense AI to function as an intelligent, autonomous agronomic sentinel rather than a simple chatbot. Using IBM watsonx.ai and IBM Granite models, it coordinates multiple specialized agents to deliver proactive crop health guidance. 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agent performs a specific role—such as monitoring agromet danger thresholds, segmenting foliar lesions, retrieving ICAR treatment protocols, and simulating economic crop loss trade-offs—while working collaboratively. This multi-agent approach ensures efficient task execution and accurate results. 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Agentic AI also brings environmental context awareness, evaluating real-time humidity, temperature, and rainfall probability to detect epiphytotic danger windows. It supports proactive real-time adaptation, automatically firing preemptive warnings days before visual symptoms appear. 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Overall, Agentic AI transforms precision agriculture from passive query-response into an autonomous, goal-driven digital agronomist that preserves smallholder yield and optimizes farm profitability. </a:t>
            </a:r>
          </a:p>
          <a:p>
            <a:pPr algn="l">
              <a:lnSpc>
                <a:spcPts val="24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8086" y="4830775"/>
            <a:ext cx="11202829" cy="1358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28086" y="6383645"/>
            <a:ext cx="11202829" cy="1358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8700" y="3676774"/>
            <a:ext cx="7643812" cy="4286250"/>
            <a:chOff x="0" y="0"/>
            <a:chExt cx="10191750" cy="5715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191750" cy="5715000"/>
            </a:xfrm>
            <a:custGeom>
              <a:avLst/>
              <a:gdLst/>
              <a:ahLst/>
              <a:cxnLst/>
              <a:rect r="r" b="b" t="t" l="l"/>
              <a:pathLst>
                <a:path h="5715000" w="10191750">
                  <a:moveTo>
                    <a:pt x="0" y="0"/>
                  </a:moveTo>
                  <a:lnTo>
                    <a:pt x="10191750" y="0"/>
                  </a:lnTo>
                  <a:lnTo>
                    <a:pt x="10191750" y="5715000"/>
                  </a:lnTo>
                  <a:lnTo>
                    <a:pt x="0" y="5715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56" r="0" b="-15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0" y="3676774"/>
            <a:ext cx="8115300" cy="4286250"/>
            <a:chOff x="0" y="0"/>
            <a:chExt cx="10820400" cy="5715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820400" cy="5715000"/>
            </a:xfrm>
            <a:custGeom>
              <a:avLst/>
              <a:gdLst/>
              <a:ahLst/>
              <a:cxnLst/>
              <a:rect r="r" b="b" t="t" l="l"/>
              <a:pathLst>
                <a:path h="5715000" w="10820400">
                  <a:moveTo>
                    <a:pt x="0" y="0"/>
                  </a:moveTo>
                  <a:lnTo>
                    <a:pt x="10820400" y="0"/>
                  </a:lnTo>
                  <a:lnTo>
                    <a:pt x="10820400" y="5715000"/>
                  </a:lnTo>
                  <a:lnTo>
                    <a:pt x="0" y="5715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250" r="0" b="-325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28700" y="771525"/>
            <a:ext cx="9666742" cy="808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Token Usage 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28086" y="7936516"/>
            <a:ext cx="11202829" cy="784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5627" y="1746523"/>
            <a:ext cx="6373873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  <a:r>
              <a:rPr lang="en-US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Tokens Processed (ibm/granite-4-h-small)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09394" y="2603773"/>
            <a:ext cx="3931920" cy="527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 Prompt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51687" y="2611050"/>
            <a:ext cx="3931920" cy="527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the Prompt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1050188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Novelty and Uniqueness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818490"/>
            <a:ext cx="16230600" cy="549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proposed AgriSense AI stands out by combining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Agentic AI, RAG, and 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grometeoro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gy into a single intelligent system: .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Multi-Agent Intelligence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Multiple specialized agents (Sentinel, Vision, RAG, Granite) collaborate to deliver accurate, context-aware agronomic guidance.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RAG-Based Accuracy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Integrates real-time retrieval from ICAR datasets, eliminating LLM hallucinations and guaranteeing safe active ingredients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Preem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tiv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Ag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Ea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ly W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ng: Au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omously computes fungal epiphytotic risk scores based on live micro-climate conditions (&gt;78% RH threshold).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Multi-Modal Input &amp; Vision: Supports text, localized voice, and OpenCV lesion-segmented crop photography for diagnostic precision.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Real-Time Feedback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&amp; Adaptati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n: Continuously recalculates treatment schedules and spray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 based on shifting weather forecasts. 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ision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lator: Goes beyond diagnosis to quantify financial ROI, comparing chemical input costs against projected crop loss.</a:t>
            </a:r>
          </a:p>
          <a:p>
            <a:pPr algn="l">
              <a:lnSpc>
                <a:spcPts val="2400"/>
              </a:lnSpc>
            </a:pPr>
          </a:p>
          <a:p>
            <a:pPr algn="l" marL="431801" indent="-215900" lvl="1">
              <a:lnSpc>
                <a:spcPts val="2400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Scalable &amp; Enterprise-Ready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Built on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watsonx.ai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Granite models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ensuring enterprise reliability, low latency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and ro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ust</a:t>
            </a: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governance. </a:t>
            </a:r>
          </a:p>
          <a:p>
            <a:pPr algn="l">
              <a:lnSpc>
                <a:spcPts val="2400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71525"/>
            <a:ext cx="9666742" cy="1313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Git Hub Link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399322"/>
            <a:ext cx="13821870" cy="4335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0"/>
              </a:lnSpc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</a:t>
            </a: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rking GitHub Repository URL:</a:t>
            </a:r>
          </a:p>
          <a:p>
            <a:pPr algn="l">
              <a:lnSpc>
                <a:spcPts val="3890"/>
              </a:lnSpc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[https://github.com/swarna-builds/AgriSense-AI-IBM-Granite]</a:t>
            </a:r>
          </a:p>
          <a:p>
            <a:pPr algn="l">
              <a:lnSpc>
                <a:spcPts val="3891"/>
              </a:lnSpc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(https://github.com/swarna-builds/AgriSense-AI-IBM-Granite)</a:t>
            </a:r>
          </a:p>
          <a:p>
            <a:pPr algn="l">
              <a:lnSpc>
                <a:spcPts val="3891"/>
              </a:lnSpc>
            </a:pPr>
          </a:p>
          <a:p>
            <a:pPr algn="l" marL="431801" indent="-215900" lvl="1">
              <a:lnSpc>
                <a:spcPts val="3890"/>
              </a:lnSpc>
              <a:buFont typeface="Arial"/>
              <a:buChar char="•"/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app.json — Agentic workflow schema and service dependency manifest </a:t>
            </a:r>
          </a:p>
          <a:p>
            <a:pPr algn="l" marL="431801" indent="-215900" lvl="1">
              <a:lnSpc>
                <a:spcPts val="3890"/>
              </a:lnSpc>
              <a:buFont typeface="Arial"/>
              <a:buChar char="•"/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yourproblemstatement.pdf — Formal problem formulation and ICAR objectives </a:t>
            </a:r>
          </a:p>
          <a:p>
            <a:pPr algn="l" marL="431801" indent="-215900" lvl="1">
              <a:lnSpc>
                <a:spcPts val="3890"/>
              </a:lnSpc>
              <a:buFont typeface="Arial"/>
              <a:buChar char="•"/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your projectpresntation.pptx — Final 15-slide technical presentation deck </a:t>
            </a:r>
          </a:p>
          <a:p>
            <a:pPr algn="l" marL="431801" indent="-215900" lvl="1">
              <a:lnSpc>
                <a:spcPts val="3891"/>
              </a:lnSpc>
              <a:buFont typeface="Arial"/>
              <a:buChar char="•"/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 Code Repository — core/, services/, app.py, and automated test suite </a:t>
            </a:r>
          </a:p>
          <a:p>
            <a:pPr algn="l">
              <a:lnSpc>
                <a:spcPts val="389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28086" y="4830775"/>
            <a:ext cx="11202829" cy="1358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8086" y="1228849"/>
            <a:ext cx="9666742" cy="1313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Future Scope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28086" y="2559757"/>
            <a:ext cx="13821870" cy="47515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 b="true">
                <a:solidFill>
                  <a:srgbClr val="2B3541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</a:t>
            </a:r>
            <a:r>
              <a:rPr lang="en-US" sz="2775" b="true">
                <a:solidFill>
                  <a:srgbClr val="2B3541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Integration with IoT Soil Probes &amp; Multispectral Drone Telemetry:</a:t>
            </a:r>
          </a:p>
          <a:p>
            <a:pPr algn="l">
              <a:lnSpc>
                <a:spcPts val="3890"/>
              </a:lnSpc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TThe system can be integrated with LoRaWAN soil moisture, temperature, and N-P-K field probes as well as multispectral drone cameras. This will enable AgriSense AI to collect real-time sub-surface and aerial crop vigor data, providing hyper-localized variable-rate spraying and automated precision drip irrigation recommendations. </a:t>
            </a:r>
          </a:p>
          <a:p>
            <a:pPr algn="l">
              <a:lnSpc>
                <a:spcPts val="3891"/>
              </a:lnSpc>
            </a:pPr>
          </a:p>
          <a:p>
            <a:pPr algn="l">
              <a:lnSpc>
                <a:spcPts val="5399"/>
              </a:lnSpc>
            </a:pPr>
            <a:r>
              <a:rPr lang="en-US" b="true" sz="2775">
                <a:solidFill>
                  <a:srgbClr val="2B3541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2.Edge AI Deployment &amp; Offline Vernacular Voice Assistant:</a:t>
            </a:r>
          </a:p>
          <a:p>
            <a:pPr algn="l">
              <a:lnSpc>
                <a:spcPts val="3891"/>
              </a:lnSpc>
            </a:pPr>
            <a:r>
              <a:rPr lang="en-US" sz="20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Optimizing and quantizing IBM Granite models for deployment onto low-cost edge micro-servers in village agricultural centers. This will provide instantaneous foliar disease diagnosis and natural spoken-dialect advisories even in remote farming communities without cellular internet connectivity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28086" y="4830775"/>
            <a:ext cx="11202829" cy="1358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28086" y="6383645"/>
            <a:ext cx="11202829" cy="1358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28086" y="7936516"/>
            <a:ext cx="11202829" cy="784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59581"/>
            <a:ext cx="7819570" cy="4398508"/>
          </a:xfrm>
          <a:custGeom>
            <a:avLst/>
            <a:gdLst/>
            <a:ahLst/>
            <a:cxnLst/>
            <a:rect r="r" b="b" t="t" l="l"/>
            <a:pathLst>
              <a:path h="4398508" w="7819570">
                <a:moveTo>
                  <a:pt x="0" y="0"/>
                </a:moveTo>
                <a:lnTo>
                  <a:pt x="7819570" y="0"/>
                </a:lnTo>
                <a:lnTo>
                  <a:pt x="7819570" y="4398508"/>
                </a:lnTo>
                <a:lnTo>
                  <a:pt x="0" y="4398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19920" y="2448438"/>
            <a:ext cx="7839380" cy="4409651"/>
          </a:xfrm>
          <a:custGeom>
            <a:avLst/>
            <a:gdLst/>
            <a:ahLst/>
            <a:cxnLst/>
            <a:rect r="r" b="b" t="t" l="l"/>
            <a:pathLst>
              <a:path h="4409651" w="7839380">
                <a:moveTo>
                  <a:pt x="0" y="0"/>
                </a:moveTo>
                <a:lnTo>
                  <a:pt x="7839380" y="0"/>
                </a:lnTo>
                <a:lnTo>
                  <a:pt x="7839380" y="4409651"/>
                </a:lnTo>
                <a:lnTo>
                  <a:pt x="0" y="44096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038925" y="1212767"/>
            <a:ext cx="3870960" cy="639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48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APP UI/UX INTERFACE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3205170"/>
            <a:ext cx="5386527" cy="3029921"/>
          </a:xfrm>
          <a:custGeom>
            <a:avLst/>
            <a:gdLst/>
            <a:ahLst/>
            <a:cxnLst/>
            <a:rect r="r" b="b" t="t" l="l"/>
            <a:pathLst>
              <a:path h="3029921" w="5386527">
                <a:moveTo>
                  <a:pt x="0" y="0"/>
                </a:moveTo>
                <a:lnTo>
                  <a:pt x="5386527" y="0"/>
                </a:lnTo>
                <a:lnTo>
                  <a:pt x="5386527" y="3029921"/>
                </a:lnTo>
                <a:lnTo>
                  <a:pt x="0" y="30299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462617" y="1556568"/>
            <a:ext cx="6613106" cy="1648602"/>
          </a:xfrm>
          <a:custGeom>
            <a:avLst/>
            <a:gdLst/>
            <a:ahLst/>
            <a:cxnLst/>
            <a:rect r="r" b="b" t="t" l="l"/>
            <a:pathLst>
              <a:path h="1648602" w="6613106">
                <a:moveTo>
                  <a:pt x="0" y="0"/>
                </a:moveTo>
                <a:lnTo>
                  <a:pt x="6613105" y="0"/>
                </a:lnTo>
                <a:lnTo>
                  <a:pt x="6613105" y="1648602"/>
                </a:lnTo>
                <a:lnTo>
                  <a:pt x="0" y="16486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2232" r="0" b="-223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462617" y="3484153"/>
            <a:ext cx="6613106" cy="1730664"/>
          </a:xfrm>
          <a:custGeom>
            <a:avLst/>
            <a:gdLst/>
            <a:ahLst/>
            <a:cxnLst/>
            <a:rect r="r" b="b" t="t" l="l"/>
            <a:pathLst>
              <a:path h="1730664" w="6613106">
                <a:moveTo>
                  <a:pt x="0" y="0"/>
                </a:moveTo>
                <a:lnTo>
                  <a:pt x="6613105" y="0"/>
                </a:lnTo>
                <a:lnTo>
                  <a:pt x="6613105" y="1730664"/>
                </a:lnTo>
                <a:lnTo>
                  <a:pt x="0" y="1730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462617" y="5491042"/>
            <a:ext cx="6613106" cy="1426356"/>
          </a:xfrm>
          <a:custGeom>
            <a:avLst/>
            <a:gdLst/>
            <a:ahLst/>
            <a:cxnLst/>
            <a:rect r="r" b="b" t="t" l="l"/>
            <a:pathLst>
              <a:path h="1426356" w="6613106">
                <a:moveTo>
                  <a:pt x="0" y="0"/>
                </a:moveTo>
                <a:lnTo>
                  <a:pt x="6613105" y="0"/>
                </a:lnTo>
                <a:lnTo>
                  <a:pt x="6613105" y="1426356"/>
                </a:lnTo>
                <a:lnTo>
                  <a:pt x="0" y="14263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462617" y="7193623"/>
            <a:ext cx="6613106" cy="1739534"/>
          </a:xfrm>
          <a:custGeom>
            <a:avLst/>
            <a:gdLst/>
            <a:ahLst/>
            <a:cxnLst/>
            <a:rect r="r" b="b" t="t" l="l"/>
            <a:pathLst>
              <a:path h="1739534" w="6613106">
                <a:moveTo>
                  <a:pt x="0" y="0"/>
                </a:moveTo>
                <a:lnTo>
                  <a:pt x="6613105" y="0"/>
                </a:lnTo>
                <a:lnTo>
                  <a:pt x="6613105" y="1739535"/>
                </a:lnTo>
                <a:lnTo>
                  <a:pt x="0" y="17395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881373">
            <a:off x="6334296" y="2719500"/>
            <a:ext cx="2219800" cy="621544"/>
          </a:xfrm>
          <a:custGeom>
            <a:avLst/>
            <a:gdLst/>
            <a:ahLst/>
            <a:cxnLst/>
            <a:rect r="r" b="b" t="t" l="l"/>
            <a:pathLst>
              <a:path h="621544" w="2219800">
                <a:moveTo>
                  <a:pt x="0" y="0"/>
                </a:moveTo>
                <a:lnTo>
                  <a:pt x="2219800" y="0"/>
                </a:lnTo>
                <a:lnTo>
                  <a:pt x="2219800" y="621544"/>
                </a:lnTo>
                <a:lnTo>
                  <a:pt x="0" y="62154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222382">
            <a:off x="6455818" y="4037334"/>
            <a:ext cx="2219800" cy="621544"/>
          </a:xfrm>
          <a:custGeom>
            <a:avLst/>
            <a:gdLst/>
            <a:ahLst/>
            <a:cxnLst/>
            <a:rect r="r" b="b" t="t" l="l"/>
            <a:pathLst>
              <a:path h="621544" w="2219800">
                <a:moveTo>
                  <a:pt x="0" y="0"/>
                </a:moveTo>
                <a:lnTo>
                  <a:pt x="2219799" y="0"/>
                </a:lnTo>
                <a:lnTo>
                  <a:pt x="2219799" y="621544"/>
                </a:lnTo>
                <a:lnTo>
                  <a:pt x="0" y="62154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1553938">
            <a:off x="6309637" y="5479405"/>
            <a:ext cx="2219800" cy="621544"/>
          </a:xfrm>
          <a:custGeom>
            <a:avLst/>
            <a:gdLst/>
            <a:ahLst/>
            <a:cxnLst/>
            <a:rect r="r" b="b" t="t" l="l"/>
            <a:pathLst>
              <a:path h="621544" w="2219800">
                <a:moveTo>
                  <a:pt x="0" y="0"/>
                </a:moveTo>
                <a:lnTo>
                  <a:pt x="2219800" y="0"/>
                </a:lnTo>
                <a:lnTo>
                  <a:pt x="2219800" y="621543"/>
                </a:lnTo>
                <a:lnTo>
                  <a:pt x="0" y="62154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481752">
            <a:off x="6213862" y="6785925"/>
            <a:ext cx="2219800" cy="621544"/>
          </a:xfrm>
          <a:custGeom>
            <a:avLst/>
            <a:gdLst/>
            <a:ahLst/>
            <a:cxnLst/>
            <a:rect r="r" b="b" t="t" l="l"/>
            <a:pathLst>
              <a:path h="621544" w="2219800">
                <a:moveTo>
                  <a:pt x="0" y="0"/>
                </a:moveTo>
                <a:lnTo>
                  <a:pt x="2219799" y="0"/>
                </a:lnTo>
                <a:lnTo>
                  <a:pt x="2219799" y="621544"/>
                </a:lnTo>
                <a:lnTo>
                  <a:pt x="0" y="62154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396084" y="1547725"/>
            <a:ext cx="2651760" cy="639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48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APP ANALYSIS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38936" y="1825061"/>
            <a:ext cx="6210514" cy="3493414"/>
          </a:xfrm>
          <a:custGeom>
            <a:avLst/>
            <a:gdLst/>
            <a:ahLst/>
            <a:cxnLst/>
            <a:rect r="r" b="b" t="t" l="l"/>
            <a:pathLst>
              <a:path h="3493414" w="6210514">
                <a:moveTo>
                  <a:pt x="0" y="0"/>
                </a:moveTo>
                <a:lnTo>
                  <a:pt x="6210514" y="0"/>
                </a:lnTo>
                <a:lnTo>
                  <a:pt x="6210514" y="3493414"/>
                </a:lnTo>
                <a:lnTo>
                  <a:pt x="0" y="34934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05397" y="1825061"/>
            <a:ext cx="6210514" cy="3493414"/>
          </a:xfrm>
          <a:custGeom>
            <a:avLst/>
            <a:gdLst/>
            <a:ahLst/>
            <a:cxnLst/>
            <a:rect r="r" b="b" t="t" l="l"/>
            <a:pathLst>
              <a:path h="3493414" w="6210514">
                <a:moveTo>
                  <a:pt x="0" y="0"/>
                </a:moveTo>
                <a:lnTo>
                  <a:pt x="6210514" y="0"/>
                </a:lnTo>
                <a:lnTo>
                  <a:pt x="6210514" y="3493414"/>
                </a:lnTo>
                <a:lnTo>
                  <a:pt x="0" y="3493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05397" y="5758452"/>
            <a:ext cx="6221952" cy="3499848"/>
          </a:xfrm>
          <a:custGeom>
            <a:avLst/>
            <a:gdLst/>
            <a:ahLst/>
            <a:cxnLst/>
            <a:rect r="r" b="b" t="t" l="l"/>
            <a:pathLst>
              <a:path h="3499848" w="6221952">
                <a:moveTo>
                  <a:pt x="0" y="0"/>
                </a:moveTo>
                <a:lnTo>
                  <a:pt x="6221952" y="0"/>
                </a:lnTo>
                <a:lnTo>
                  <a:pt x="6221952" y="3499848"/>
                </a:lnTo>
                <a:lnTo>
                  <a:pt x="0" y="34998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138936" y="5724878"/>
            <a:ext cx="6281640" cy="3533422"/>
          </a:xfrm>
          <a:custGeom>
            <a:avLst/>
            <a:gdLst/>
            <a:ahLst/>
            <a:cxnLst/>
            <a:rect r="r" b="b" t="t" l="l"/>
            <a:pathLst>
              <a:path h="3533422" w="6281640">
                <a:moveTo>
                  <a:pt x="0" y="0"/>
                </a:moveTo>
                <a:lnTo>
                  <a:pt x="6281640" y="0"/>
                </a:lnTo>
                <a:lnTo>
                  <a:pt x="6281640" y="3533422"/>
                </a:lnTo>
                <a:lnTo>
                  <a:pt x="0" y="35334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309600" y="772311"/>
            <a:ext cx="622195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MULTILINGUAL SUPPORT WITH VOICE INTEGRATION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78230" y="2357542"/>
            <a:ext cx="6102592" cy="6306829"/>
          </a:xfrm>
          <a:custGeom>
            <a:avLst/>
            <a:gdLst/>
            <a:ahLst/>
            <a:cxnLst/>
            <a:rect r="r" b="b" t="t" l="l"/>
            <a:pathLst>
              <a:path h="6306829" w="6102592">
                <a:moveTo>
                  <a:pt x="0" y="0"/>
                </a:moveTo>
                <a:lnTo>
                  <a:pt x="6102592" y="0"/>
                </a:lnTo>
                <a:lnTo>
                  <a:pt x="6102592" y="6306828"/>
                </a:lnTo>
                <a:lnTo>
                  <a:pt x="0" y="63068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2942727"/>
            <a:ext cx="7793283" cy="3198896"/>
          </a:xfrm>
          <a:custGeom>
            <a:avLst/>
            <a:gdLst/>
            <a:ahLst/>
            <a:cxnLst/>
            <a:rect r="r" b="b" t="t" l="l"/>
            <a:pathLst>
              <a:path h="3198896" w="7793283">
                <a:moveTo>
                  <a:pt x="0" y="0"/>
                </a:moveTo>
                <a:lnTo>
                  <a:pt x="7793283" y="0"/>
                </a:lnTo>
                <a:lnTo>
                  <a:pt x="7793283" y="3198896"/>
                </a:lnTo>
                <a:lnTo>
                  <a:pt x="0" y="31988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71696" y="1264043"/>
            <a:ext cx="10144608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Ge</a:t>
            </a: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oFarm Analytics: Smart Profiles &amp; Location Insights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79024" y="2685170"/>
            <a:ext cx="12929951" cy="4916659"/>
          </a:xfrm>
          <a:custGeom>
            <a:avLst/>
            <a:gdLst/>
            <a:ahLst/>
            <a:cxnLst/>
            <a:rect r="r" b="b" t="t" l="l"/>
            <a:pathLst>
              <a:path h="4916659" w="12929951">
                <a:moveTo>
                  <a:pt x="0" y="0"/>
                </a:moveTo>
                <a:lnTo>
                  <a:pt x="12929952" y="0"/>
                </a:lnTo>
                <a:lnTo>
                  <a:pt x="12929952" y="4916660"/>
                </a:lnTo>
                <a:lnTo>
                  <a:pt x="0" y="49166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79024" y="1336029"/>
            <a:ext cx="1292995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AgriAle</a:t>
            </a:r>
            <a:r>
              <a:rPr lang="en-US" b="true" sz="27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rt: 24/7 Risk &amp; Mandi Price Predictor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22734" y="1952920"/>
            <a:ext cx="9583267" cy="7191304"/>
            <a:chOff x="0" y="0"/>
            <a:chExt cx="14150442" cy="1061852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150467" cy="10618470"/>
            </a:xfrm>
            <a:custGeom>
              <a:avLst/>
              <a:gdLst/>
              <a:ahLst/>
              <a:cxnLst/>
              <a:rect r="r" b="b" t="t" l="l"/>
              <a:pathLst>
                <a:path h="10618470" w="14150467">
                  <a:moveTo>
                    <a:pt x="0" y="0"/>
                  </a:moveTo>
                  <a:lnTo>
                    <a:pt x="14150467" y="0"/>
                  </a:lnTo>
                  <a:lnTo>
                    <a:pt x="14150467" y="10618470"/>
                  </a:lnTo>
                  <a:lnTo>
                    <a:pt x="0" y="10618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321" r="0" b="-132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0125"/>
            <a:ext cx="8961120" cy="952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Certificates Earned:</a:t>
            </a:r>
          </a:p>
          <a:p>
            <a:pPr algn="ctr">
              <a:lnSpc>
                <a:spcPts val="4320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12880" y="2270436"/>
            <a:ext cx="10766327" cy="6987864"/>
            <a:chOff x="0" y="0"/>
            <a:chExt cx="14355102" cy="931715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355063" cy="9317101"/>
            </a:xfrm>
            <a:custGeom>
              <a:avLst/>
              <a:gdLst/>
              <a:ahLst/>
              <a:cxnLst/>
              <a:rect r="r" b="b" t="t" l="l"/>
              <a:pathLst>
                <a:path h="9317101" w="14355063">
                  <a:moveTo>
                    <a:pt x="0" y="0"/>
                  </a:moveTo>
                  <a:lnTo>
                    <a:pt x="14355063" y="0"/>
                  </a:lnTo>
                  <a:lnTo>
                    <a:pt x="14355063" y="9317101"/>
                  </a:lnTo>
                  <a:lnTo>
                    <a:pt x="0" y="9317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349" r="0" b="-4349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0125"/>
            <a:ext cx="8961120" cy="952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Certificates Earned:</a:t>
            </a:r>
            <a:r>
              <a:rPr lang="en-US"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​</a:t>
            </a:r>
          </a:p>
          <a:p>
            <a:pPr algn="ctr">
              <a:lnSpc>
                <a:spcPts val="4320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285449"/>
            <a:ext cx="18288000" cy="3716093"/>
            <a:chOff x="0" y="0"/>
            <a:chExt cx="24384000" cy="495479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4954778"/>
            </a:xfrm>
            <a:custGeom>
              <a:avLst/>
              <a:gdLst/>
              <a:ahLst/>
              <a:cxnLst/>
              <a:rect r="r" b="b" t="t" l="l"/>
              <a:pathLst>
                <a:path h="495477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954778"/>
                  </a:lnTo>
                  <a:lnTo>
                    <a:pt x="0" y="4954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DAHUyTQmP-0</dc:identifier>
  <dcterms:modified xsi:type="dcterms:W3CDTF">2011-08-01T06:04:30Z</dcterms:modified>
  <cp:revision>1</cp:revision>
  <dc:title>AICTE_Langflow_Project_Submission_Template_for_EduentFoundation (1).pptx</dc:title>
</cp:coreProperties>
</file>