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libri (MS) Bold" charset="1" panose="020F0702030404030204"/>
      <p:regular r:id="rId22"/>
    </p:embeddedFont>
    <p:embeddedFont>
      <p:font typeface="Calibri (MS) Bold Italics" charset="1" panose="020F07020304040A0204"/>
      <p:regular r:id="rId23"/>
    </p:embeddedFont>
    <p:embeddedFont>
      <p:font typeface="Arial" charset="1" panose="020B0604020202020204"/>
      <p:regular r:id="rId27"/>
    </p:embeddedFont>
    <p:embeddedFont>
      <p:font typeface="Arial Bold" charset="1" panose="020B0704020202020204"/>
      <p:regular r:id="rId28"/>
    </p:embeddedFont>
    <p:embeddedFont>
      <p:font typeface="Times New Roman Bold" charset="1" panose="02020803070505020304"/>
      <p:regular r:id="rId29"/>
    </p:embeddedFont>
    <p:embeddedFont>
      <p:font typeface="Times New Roman" charset="1" panose="020206030504050203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7775" y="2564606"/>
            <a:ext cx="15773400" cy="4279106"/>
            <a:chOff x="0" y="0"/>
            <a:chExt cx="21031200" cy="5705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00" cy="5705474"/>
            </a:xfrm>
            <a:custGeom>
              <a:avLst/>
              <a:gdLst/>
              <a:ahLst/>
              <a:cxnLst/>
              <a:rect r="r" b="b" t="t" l="l"/>
              <a:pathLst>
                <a:path h="570547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705474"/>
                  </a:lnTo>
                  <a:lnTo>
                    <a:pt x="0" y="57054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824" r="0" b="-218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031200" cy="58007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0692"/>
                </a:lnSpc>
              </a:pPr>
              <a:r>
                <a:rPr lang="en-US" sz="99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IBM University Engagement Project Submission</a:t>
              </a:r>
            </a:p>
            <a:p>
              <a:pPr algn="ctr">
                <a:lnSpc>
                  <a:spcPts val="1069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13516" y="5882145"/>
            <a:ext cx="15590549" cy="2177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b="true" sz="3600" i="true">
                <a:solidFill>
                  <a:srgbClr val="888888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“Exploring the Power of Agentic AI with IBM Granite and LangFlow”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948886" y="3900473"/>
          <a:ext cx="14058900" cy="3238500"/>
        </p:xfrm>
        <a:graphic>
          <a:graphicData uri="http://schemas.openxmlformats.org/drawingml/2006/table">
            <a:tbl>
              <a:tblPr/>
              <a:tblGrid>
                <a:gridCol w="3094464"/>
                <a:gridCol w="3654812"/>
                <a:gridCol w="3654812"/>
                <a:gridCol w="3654812"/>
              </a:tblGrid>
              <a:tr h="14617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 Name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Recent Passport Photo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 ID </a:t>
                      </a:r>
                      <a:endParaRPr lang="en-US" sz="1100"/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Mobile number</a:t>
                      </a:r>
                      <a:endParaRPr lang="en-US" sz="1100"/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[WhatsApp] </a:t>
                      </a:r>
                    </a:p>
                  </a:txBody>
                  <a:tcPr marL="91450" marR="91450" marT="91450" marB="91450" anchor="ctr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177673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 SWARNA LAKSHM</a:t>
                      </a:r>
                      <a:endParaRPr lang="en-US" sz="1100"/>
                    </a:p>
                  </a:txBody>
                  <a:tcPr marL="91450" marR="91450" marT="91450" marB="9145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50" marR="91450" marT="91450" marB="9145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swarnalakshmim2006@gmail.com </a:t>
                      </a:r>
                      <a:endParaRPr lang="en-US" sz="1100"/>
                    </a:p>
                  </a:txBody>
                  <a:tcPr marL="91450" marR="91450" marT="91450" marB="9145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6360306436</a:t>
                      </a:r>
                      <a:endParaRPr lang="en-US" sz="1100"/>
                    </a:p>
                  </a:txBody>
                  <a:tcPr marL="91450" marR="91450" marT="91450" marB="91450" anchor="t">
                    <a:lnL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6079531" y="5607625"/>
            <a:ext cx="1143752" cy="1202712"/>
            <a:chOff x="0" y="0"/>
            <a:chExt cx="1525003" cy="16036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25016" cy="1603629"/>
            </a:xfrm>
            <a:custGeom>
              <a:avLst/>
              <a:gdLst/>
              <a:ahLst/>
              <a:cxnLst/>
              <a:rect r="r" b="b" t="t" l="l"/>
              <a:pathLst>
                <a:path h="1603629" w="1525016">
                  <a:moveTo>
                    <a:pt x="0" y="0"/>
                  </a:moveTo>
                  <a:lnTo>
                    <a:pt x="1525016" y="0"/>
                  </a:lnTo>
                  <a:lnTo>
                    <a:pt x="1525016" y="1603629"/>
                  </a:lnTo>
                  <a:lnTo>
                    <a:pt x="0" y="1603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848" r="0" b="-12848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00685" y="2637579"/>
            <a:ext cx="141071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Domain of  Project – Agriculture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0685" y="1225968"/>
            <a:ext cx="12430660" cy="107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43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Tile – AgriSense AI: Autonomous Agronomic Decision &amp;                                                     Agromet Advisory Platform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5548" y="1878330"/>
            <a:ext cx="15727680" cy="53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: AgriSense AI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 Challenge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Smallholder agriculture remains vulnerable to unpredictable micro-climatic sh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 sudde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ks.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tion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ike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Downy Mildew and Late Blight proliferate when relative humidity exceeds 78% RH, causing irreversible cellular damage days before visual symptoms ap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ar. Farme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rs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rely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-hoc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eale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causing severe agrochemical overdosing, while generic commercial LLMs invent hazardous, uncalibrated chemical recipes.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 Objective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omous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Ag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rom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Sentinel: C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ontin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uou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ly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tor live humidity and rainfall to 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gg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emptive alerts before spore germination.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ICAR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ck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RAG Retrieval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Fetch verified active ingredients and exact dilution schedules (e.g., Metalaxyl @ 2g/L) from univers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sets.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Foliar Pathology Vision: Segment foliar lesions and chlorosis f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aded field photos using deterministic OpenCV.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Multi-Agent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tion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Orch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inel, Vision, RAG, and Gran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gen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erate compl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7-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reatment plans.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ular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Voic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Delivery: Deliver f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ul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 oper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ationa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 guidance in Kannada, Telugu, Hindi, and English with edge audio synthesis.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5548" y="1073277"/>
            <a:ext cx="1063904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238375"/>
            <a:ext cx="15727680" cy="591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Solution: AgriSense AI 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proposed solution is an autonomous,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multi-agent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onom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 adv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ry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 built using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low, IBM watsonx.ai, and Granite Models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deliver proactive crop disease guidance and verified chemical calibration. 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its core, the solution uses a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Retrieval-Augmented Generation (RAG)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pipeline to fetch verified agronomic data from trusted ICAR (Indian Council of Agricultural Research) datasets. This data is embedded and stored in a vector database, enabling the system to retrieve exact active ingredients, safety intervals, and per-liter dilution formulas using Granite models.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 consists of four key agents: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Agrom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Agent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Monitors real-time weather telemetry to predict pathogen outbreaks.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Foliar Vision Agent: Analyzes crop photos using OpenCV segmentation to quantify foliar lesions.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Agronomic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Agent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Retrieves validated ICAR chemical protocols, spray intervals, and safety guidelines.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Granite Orchestrati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Agent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Synthesizes weather risks, vision findings, and RAG knowledge into a 7-day roadmap.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solution includes a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user-friendly dashboard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(built with Streamlit) that visualizes environmental risk gauges, foliar pathology masks, and 7-day treatment schedules with voice output. Langflow orchestrates agent workflows, while watsonx.ai ensures scalable model deployment and AI governance. </a:t>
            </a:r>
          </a:p>
          <a:p>
            <a:pPr algn="l">
              <a:lnSpc>
                <a:spcPts val="240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06258"/>
            <a:ext cx="1063904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Solution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33934"/>
            <a:ext cx="10501884" cy="62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Technology Used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152775"/>
            <a:ext cx="16230600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Langflow platform: For visually designing, orchestrating, and connecting multi-agent RAG pipelines and custom tools. 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Granite model (ibm/granite-4-h-small): For agronomic reasoning, JSON schema formulation, and generating personalized 7-day roadmaps. </a:t>
            </a:r>
          </a:p>
          <a:p>
            <a:pPr algn="l">
              <a:lnSpc>
                <a:spcPts val="2400"/>
              </a:lnSpc>
            </a:pPr>
          </a:p>
          <a:p>
            <a:pPr algn="l" marL="361950" indent="-180975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Cloud: Provides scalable, reliable cloud infrastructure and secure IAM token management to host and execute services. 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 (Retrieval-Augmented Generation): Fetches real-world ICAR/KVK agronomic protocols first, eliminating hallucinations and ensuring safe active ingredients. 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watsonx.ai: For enterprise model deployment, prompt engineering, AI governance, and low-latency inference.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Database (ChromaDB): For vectorizing and retrieving chunked ICAR agronomic research publications. </a:t>
            </a:r>
          </a:p>
          <a:p>
            <a:pPr algn="l" marL="361950" indent="-180975" lvl="1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8138"/>
            <a:ext cx="886339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Langflow</a:t>
            </a:r>
            <a:r>
              <a:rPr lang="en-US" b="true" sz="2799">
                <a:solidFill>
                  <a:srgbClr val="051D3A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component Used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95575"/>
            <a:ext cx="13053060" cy="488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 Input: Interface where farmers submit crop type, field location, and upload foliar leaf/fruit images (text/image). 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 AI Agent: Ingests telemetry, vision metrics, and farmer queries to orchestrate Granite reasoning. 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 of IBM Granite model: ibm/granite-4-h-small (Granite 4.0) — Fast, efficient, and precise for real-time structured agronomic JSON generation. 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 output: Displays AI-generated 4-tab advisory (Risk Sentinel, Pathology Mask, 7-Day Treatment Plan, Economic ROI). 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 Component / Vector Store (ChromaDB): Stores and semantically retrieves ICAR chemical packages and dilution ratios. 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 OpenCV Vision Component: Preprocesses and segments uploaded crop photography into necrotic lesion masks. </a:t>
            </a:r>
          </a:p>
          <a:p>
            <a:pPr algn="l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64127" y="2284164"/>
            <a:ext cx="12763083" cy="6127128"/>
            <a:chOff x="0" y="0"/>
            <a:chExt cx="22936200" cy="11010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936200" cy="11010900"/>
            </a:xfrm>
            <a:custGeom>
              <a:avLst/>
              <a:gdLst/>
              <a:ahLst/>
              <a:cxnLst/>
              <a:rect r="r" b="b" t="t" l="l"/>
              <a:pathLst>
                <a:path h="11010900" w="22936200">
                  <a:moveTo>
                    <a:pt x="0" y="0"/>
                  </a:moveTo>
                  <a:lnTo>
                    <a:pt x="22936200" y="0"/>
                  </a:lnTo>
                  <a:lnTo>
                    <a:pt x="22936200" y="11010900"/>
                  </a:lnTo>
                  <a:lnTo>
                    <a:pt x="0" y="1101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585" r="0" b="-858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464127" y="1284813"/>
            <a:ext cx="8863394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Langflow</a:t>
            </a:r>
            <a:r>
              <a:rPr lang="en-US" b="true" sz="3600">
                <a:solidFill>
                  <a:srgbClr val="051D3A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workflow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98022" y="1274944"/>
            <a:ext cx="8863394" cy="73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Architecture blueprint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98022" y="2366651"/>
            <a:ext cx="13772778" cy="6891649"/>
            <a:chOff x="0" y="0"/>
            <a:chExt cx="22936200" cy="114768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936200" cy="11476860"/>
            </a:xfrm>
            <a:custGeom>
              <a:avLst/>
              <a:gdLst/>
              <a:ahLst/>
              <a:cxnLst/>
              <a:rect r="r" b="b" t="t" l="l"/>
              <a:pathLst>
                <a:path h="11476860" w="22936200">
                  <a:moveTo>
                    <a:pt x="0" y="0"/>
                  </a:moveTo>
                  <a:lnTo>
                    <a:pt x="22936200" y="0"/>
                  </a:lnTo>
                  <a:lnTo>
                    <a:pt x="22936200" y="11476860"/>
                  </a:lnTo>
                  <a:lnTo>
                    <a:pt x="0" y="114768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207" r="0" b="-6207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57979" y="1751238"/>
            <a:ext cx="4523013" cy="6784524"/>
            <a:chOff x="0" y="0"/>
            <a:chExt cx="6030684" cy="90460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30722" cy="9046083"/>
            </a:xfrm>
            <a:custGeom>
              <a:avLst/>
              <a:gdLst/>
              <a:ahLst/>
              <a:cxnLst/>
              <a:rect r="r" b="b" t="t" l="l"/>
              <a:pathLst>
                <a:path h="9046083" w="6030722">
                  <a:moveTo>
                    <a:pt x="0" y="0"/>
                  </a:moveTo>
                  <a:lnTo>
                    <a:pt x="6030722" y="0"/>
                  </a:lnTo>
                  <a:lnTo>
                    <a:pt x="6030722" y="9046083"/>
                  </a:lnTo>
                  <a:lnTo>
                    <a:pt x="0" y="90460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339325"/>
            <a:ext cx="573786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Role of Agentic AI in the solution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27362"/>
            <a:ext cx="10927080" cy="488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 enables AgriSense AI to function as an intelligent, autonomous agronomic sentinel rather than a simple chatbot. Using IBM watsonx.ai and IBM Granite models, it coordinates multiple specialized agents to deliver proactive crop health guidance. 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agent performs a specific role—such as monitoring agromet danger thresholds, segmenting foliar lesions, retrieving ICAR treatment protocols, and simulating economic crop loss trade-offs—while working collaboratively. This multi-agent approach ensures efficient task execution and accurate results. </a:t>
            </a:r>
          </a:p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 also brings environmental context awareness, evaluating real-time humidity, temperature, and rainfall probability to detect epiphytotic danger windows. It supports proactive real-time adaptation, automatically firing preemptive warnings days before visual symptoms appear. 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Overall, Agentic AI transforms precision agriculture from passive query-response into an autonomous, goal-driven digital agronomist that preserves smallholder yield and optimizes farm profitability. </a:t>
            </a:r>
          </a:p>
          <a:p>
            <a:pPr algn="l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28086" y="483077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28086" y="638364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676774"/>
            <a:ext cx="7643812" cy="4286250"/>
            <a:chOff x="0" y="0"/>
            <a:chExt cx="10191750" cy="571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91750" cy="5715000"/>
            </a:xfrm>
            <a:custGeom>
              <a:avLst/>
              <a:gdLst/>
              <a:ahLst/>
              <a:cxnLst/>
              <a:rect r="r" b="b" t="t" l="l"/>
              <a:pathLst>
                <a:path h="5715000" w="10191750">
                  <a:moveTo>
                    <a:pt x="0" y="0"/>
                  </a:moveTo>
                  <a:lnTo>
                    <a:pt x="10191750" y="0"/>
                  </a:lnTo>
                  <a:lnTo>
                    <a:pt x="10191750" y="5715000"/>
                  </a:lnTo>
                  <a:lnTo>
                    <a:pt x="0" y="571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" r="0" b="-15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0" y="3676774"/>
            <a:ext cx="8115300" cy="4286250"/>
            <a:chOff x="0" y="0"/>
            <a:chExt cx="10820400" cy="571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204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10820400">
                  <a:moveTo>
                    <a:pt x="0" y="0"/>
                  </a:moveTo>
                  <a:lnTo>
                    <a:pt x="10820400" y="0"/>
                  </a:lnTo>
                  <a:lnTo>
                    <a:pt x="10820400" y="5715000"/>
                  </a:lnTo>
                  <a:lnTo>
                    <a:pt x="0" y="571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50" r="0" b="-325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771525"/>
            <a:ext cx="9666742" cy="80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8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Token Usage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8086" y="7936516"/>
            <a:ext cx="11202829" cy="78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5627" y="1746523"/>
            <a:ext cx="637387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59</a:t>
            </a:r>
            <a:r>
              <a:rPr lang="en-US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Tokens Processed (ibm/granite-4-h-small)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09394" y="2603773"/>
            <a:ext cx="3931920" cy="52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Prompt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51687" y="2611050"/>
            <a:ext cx="3931920" cy="52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the Prompt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09650"/>
            <a:ext cx="1050188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Novelty and Uniqueness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818490"/>
            <a:ext cx="16230600" cy="549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proposed AgriSense AI stands out by combining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Agentic AI, RAG, and p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grometeoro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gy into a single intelligent system: .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Multi-Agent Intelligence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Multiple specialized agents (Sentinel, Vision, RAG, Granite) collaborate to deliver accurate, context-aware agronomic guidance. 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RAG-Based Accuracy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Integrates real-time retrieval from ICAR datasets, eliminating LLM hallucinations and guaranteeing safe active ingredients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Preem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tiv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Ag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 Ea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ly W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ng: Au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omously computes fungal epiphytotic risk scores based on live micro-climate conditions (&gt;78% RH threshold).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Multi-Modal Input &amp; Vision: Supports text, localized voice, and OpenCV lesion-segmented crop photography for diagnostic precision. 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Feedback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&amp; Adaptati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n: Continuously recalculates treatment schedules and spray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 based on shifting weather forecasts. 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Eco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om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ision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lator: Goes beyond diagnosis to quantify financial ROI, comparing chemical input costs against projected crop loss.</a:t>
            </a:r>
          </a:p>
          <a:p>
            <a:pPr algn="l">
              <a:lnSpc>
                <a:spcPts val="2400"/>
              </a:lnSpc>
            </a:pP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&amp; Enterprise-Ready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Built on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watsonx.ai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IBM Granite models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ensuring enterprise reliability, low latency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ro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ust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governance. </a:t>
            </a:r>
          </a:p>
          <a:p>
            <a:pPr algn="l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1525"/>
            <a:ext cx="9666742" cy="131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8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Git Hub Link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58170"/>
            <a:ext cx="13821870" cy="43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0"/>
              </a:lnSpc>
            </a:pPr>
            <a:r>
              <a:rPr lang="en-US" sz="20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</a:t>
            </a:r>
            <a:r>
              <a:rPr lang="en-US" sz="20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rking GitHub Repository URL:</a:t>
            </a:r>
          </a:p>
          <a:p>
            <a:pPr algn="l">
              <a:lnSpc>
                <a:spcPts val="3890"/>
              </a:lnSpc>
            </a:pPr>
            <a:r>
              <a:rPr lang="en-US" sz="20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[https://github.com/swarna-builds/AgriSense-AI-IBM-Granite]</a:t>
            </a:r>
          </a:p>
          <a:p>
            <a:pPr algn="l">
              <a:lnSpc>
                <a:spcPts val="3891"/>
              </a:lnSpc>
            </a:pPr>
            <a:r>
              <a:rPr lang="en-US" sz="20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(https://github.com/swarna-builds/AgriSense-AI-IBM-Granite)</a:t>
            </a:r>
          </a:p>
          <a:p>
            <a:pPr algn="l">
              <a:lnSpc>
                <a:spcPts val="3891"/>
              </a:lnSpc>
            </a:pPr>
          </a:p>
          <a:p>
            <a:pPr algn="l" marL="431801" indent="-215900" lvl="1">
              <a:lnSpc>
                <a:spcPts val="3890"/>
              </a:lnSpc>
              <a:buFont typeface="Arial"/>
              <a:buChar char="•"/>
            </a:pPr>
            <a:r>
              <a:rPr lang="en-US" sz="20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 — Agentic workflow schema and service dependency manifest </a:t>
            </a:r>
          </a:p>
          <a:p>
            <a:pPr algn="l" marL="431801" indent="-215900" lvl="1">
              <a:lnSpc>
                <a:spcPts val="3890"/>
              </a:lnSpc>
              <a:buFont typeface="Arial"/>
              <a:buChar char="•"/>
            </a:pPr>
            <a:r>
              <a:rPr lang="en-US" sz="20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yourproblemstatement.pdf — Formal problem formulation and ICAR objectives </a:t>
            </a:r>
          </a:p>
          <a:p>
            <a:pPr algn="l" marL="431801" indent="-215900" lvl="1">
              <a:lnSpc>
                <a:spcPts val="3890"/>
              </a:lnSpc>
              <a:buFont typeface="Arial"/>
              <a:buChar char="•"/>
            </a:pPr>
            <a:r>
              <a:rPr lang="en-US" sz="20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your projectpresntation.pptx — Final 15-slide technical presentation deck </a:t>
            </a:r>
          </a:p>
          <a:p>
            <a:pPr algn="l" marL="431801" indent="-215900" lvl="1">
              <a:lnSpc>
                <a:spcPts val="3891"/>
              </a:lnSpc>
              <a:buFont typeface="Arial"/>
              <a:buChar char="•"/>
            </a:pPr>
            <a:r>
              <a:rPr lang="en-US" sz="20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Code Repository — core/, services/, app.py, and automated test suite </a:t>
            </a:r>
          </a:p>
          <a:p>
            <a:pPr algn="l">
              <a:lnSpc>
                <a:spcPts val="389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28086" y="483077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28086" y="1228849"/>
            <a:ext cx="9666742" cy="131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8"/>
              </a:lnSpc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Future Scope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28086" y="2559757"/>
            <a:ext cx="13821870" cy="475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 b="true">
                <a:solidFill>
                  <a:srgbClr val="2B354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</a:t>
            </a:r>
            <a:r>
              <a:rPr lang="en-US" sz="2775" b="true">
                <a:solidFill>
                  <a:srgbClr val="2B354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Integration with IoT Soil Probes &amp; Multispectral Drone Telemetry:</a:t>
            </a:r>
          </a:p>
          <a:p>
            <a:pPr algn="l">
              <a:lnSpc>
                <a:spcPts val="3890"/>
              </a:lnSpc>
            </a:pPr>
            <a:r>
              <a:rPr lang="en-US" sz="20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TThe system can be integrated with LoRaWAN soil moisture, temperature, and N-P-K field probes as well as multispectral drone cameras. This will enable AgriSense AI to collect real-time sub-surface and aerial crop vigor data, providing hyper-localized variable-rate spraying and automated precision drip irrigation recommendations. </a:t>
            </a:r>
          </a:p>
          <a:p>
            <a:pPr algn="l">
              <a:lnSpc>
                <a:spcPts val="3891"/>
              </a:lnSpc>
            </a:pPr>
          </a:p>
          <a:p>
            <a:pPr algn="l">
              <a:lnSpc>
                <a:spcPts val="5399"/>
              </a:lnSpc>
            </a:pPr>
            <a:r>
              <a:rPr lang="en-US" b="true" sz="2775">
                <a:solidFill>
                  <a:srgbClr val="2B354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2.Edge AI Deployment &amp; Offline Vernacular Voice Assistant:</a:t>
            </a:r>
          </a:p>
          <a:p>
            <a:pPr algn="l">
              <a:lnSpc>
                <a:spcPts val="3891"/>
              </a:lnSpc>
            </a:pPr>
            <a:r>
              <a:rPr lang="en-US" sz="200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and quantizing IBM Granite models for deployment onto low-cost edge micro-servers in village agricultural centers. This will provide instantaneous foliar disease diagnosis and natural spoken-dialect advisories even in remote farming communities without cellular internet connectivity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28086" y="483077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086" y="6383645"/>
            <a:ext cx="11202829" cy="1358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086" y="7936516"/>
            <a:ext cx="11202829" cy="78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2775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22734" y="1952920"/>
            <a:ext cx="9583267" cy="7191304"/>
            <a:chOff x="0" y="0"/>
            <a:chExt cx="14150442" cy="106185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50467" cy="10618470"/>
            </a:xfrm>
            <a:custGeom>
              <a:avLst/>
              <a:gdLst/>
              <a:ahLst/>
              <a:cxnLst/>
              <a:rect r="r" b="b" t="t" l="l"/>
              <a:pathLst>
                <a:path h="10618470" w="14150467">
                  <a:moveTo>
                    <a:pt x="0" y="0"/>
                  </a:moveTo>
                  <a:lnTo>
                    <a:pt x="14150467" y="0"/>
                  </a:lnTo>
                  <a:lnTo>
                    <a:pt x="14150467" y="10618470"/>
                  </a:lnTo>
                  <a:lnTo>
                    <a:pt x="0" y="10618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1" r="0" b="-132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000125"/>
            <a:ext cx="8961120" cy="95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Certificates Earned:</a:t>
            </a:r>
          </a:p>
          <a:p>
            <a:pPr algn="ctr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12880" y="2270436"/>
            <a:ext cx="10766327" cy="6987864"/>
            <a:chOff x="0" y="0"/>
            <a:chExt cx="14355102" cy="93171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55063" cy="9317101"/>
            </a:xfrm>
            <a:custGeom>
              <a:avLst/>
              <a:gdLst/>
              <a:ahLst/>
              <a:cxnLst/>
              <a:rect r="r" b="b" t="t" l="l"/>
              <a:pathLst>
                <a:path h="9317101" w="14355063">
                  <a:moveTo>
                    <a:pt x="0" y="0"/>
                  </a:moveTo>
                  <a:lnTo>
                    <a:pt x="14355063" y="0"/>
                  </a:lnTo>
                  <a:lnTo>
                    <a:pt x="14355063" y="9317101"/>
                  </a:lnTo>
                  <a:lnTo>
                    <a:pt x="0" y="9317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349" r="0" b="-434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000125"/>
            <a:ext cx="8961120" cy="95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Certificates Earned:</a:t>
            </a: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</a:p>
          <a:p>
            <a:pPr algn="ctr">
              <a:lnSpc>
                <a:spcPts val="432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285449"/>
            <a:ext cx="18288000" cy="3716093"/>
            <a:chOff x="0" y="0"/>
            <a:chExt cx="24384000" cy="4954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4954778"/>
            </a:xfrm>
            <a:custGeom>
              <a:avLst/>
              <a:gdLst/>
              <a:ahLst/>
              <a:cxnLst/>
              <a:rect r="r" b="b" t="t" l="l"/>
              <a:pathLst>
                <a:path h="4954778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54778"/>
                  </a:lnTo>
                  <a:lnTo>
                    <a:pt x="0" y="4954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DAHUyTQmP-0</dc:identifier>
  <dcterms:modified xsi:type="dcterms:W3CDTF">2011-08-01T06:04:30Z</dcterms:modified>
  <cp:revision>1</cp:revision>
  <dc:title>AICTE_Langflow_Project_Submission_Template_for_EduentFoundation (1).pptx</dc:title>
</cp:coreProperties>
</file>